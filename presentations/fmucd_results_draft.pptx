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fb5343d73044aa" /><Relationship Type="http://schemas.openxmlformats.org/officeDocument/2006/relationships/extended-properties" Target="/docProps/app.xml" Id="R1762f716313340de" /><Relationship Type="http://schemas.openxmlformats.org/officeDocument/2006/relationships/officeDocument" Target="/ppt/presentation.xml" Id="Re8a9689ed9d5455b" /></Relationships>
</file>

<file path=ppt/presentation.xml><?xml version="1.0" encoding="utf-8"?>
<p:presentation xmlns:p="http://schemas.openxmlformats.org/presentationml/2006/main">
  <p:sldMasterIdLst>
    <p:sldMasterId xmlns:r="http://schemas.openxmlformats.org/officeDocument/2006/relationships" id="2147483648" r:id="Rb1ee418193484218"/>
  </p:sldMasterIdLst>
  <p:notesMasterIdLst>
    <p:notesMasterId xmlns:r="http://schemas.openxmlformats.org/officeDocument/2006/relationships" r:id="R2833cd52b2c0469a"/>
  </p:notesMasterIdLst>
  <p:sldIdLst>
    <p:sldId xmlns:r="http://schemas.openxmlformats.org/officeDocument/2006/relationships" id="256" r:id="Rcf31d63bcfcb49e9"/>
    <p:sldId xmlns:r="http://schemas.openxmlformats.org/officeDocument/2006/relationships" id="257" r:id="R6148dc4817a445f8"/>
    <p:sldId xmlns:r="http://schemas.openxmlformats.org/officeDocument/2006/relationships" id="258" r:id="R01d1e0f04d764b0a"/>
    <p:sldId xmlns:r="http://schemas.openxmlformats.org/officeDocument/2006/relationships" id="259" r:id="R9b450332d4c54b9c"/>
    <p:sldId xmlns:r="http://schemas.openxmlformats.org/officeDocument/2006/relationships" id="260" r:id="R4e2befe7324f460d"/>
    <p:sldId xmlns:r="http://schemas.openxmlformats.org/officeDocument/2006/relationships" id="261" r:id="R12908b566fe4467a"/>
    <p:sldId xmlns:r="http://schemas.openxmlformats.org/officeDocument/2006/relationships" id="262" r:id="Ra47f6ffb3f8f492f"/>
    <p:sldId xmlns:r="http://schemas.openxmlformats.org/officeDocument/2006/relationships" id="263" r:id="R55181d20637c4e0f"/>
    <p:sldId xmlns:r="http://schemas.openxmlformats.org/officeDocument/2006/relationships" id="264" r:id="R60297944cf894c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0aea73053942ef" /><Relationship Type="http://schemas.openxmlformats.org/officeDocument/2006/relationships/slideMaster" Target="/ppt/slideMasters/slideMaster1.xml" Id="Rb1ee418193484218" /><Relationship Type="http://schemas.openxmlformats.org/officeDocument/2006/relationships/notesMaster" Target="/ppt/notesMasters/notesMaster1.xml" Id="R2833cd52b2c0469a" /><Relationship Type="http://schemas.openxmlformats.org/officeDocument/2006/relationships/presProps" Target="/ppt/presProps.xml" Id="Rda1e8f3e1e90491f" /><Relationship Type="http://schemas.openxmlformats.org/officeDocument/2006/relationships/tableStyles" Target="/ppt/tableStyles.xml" Id="Rcf2292220d524a4a" /><Relationship Type="http://schemas.openxmlformats.org/officeDocument/2006/relationships/slide" Target="/ppt/slides/slide1.xml" Id="Rcf31d63bcfcb49e9" /><Relationship Type="http://schemas.openxmlformats.org/officeDocument/2006/relationships/slide" Target="/ppt/slides/slide2.xml" Id="R6148dc4817a445f8" /><Relationship Type="http://schemas.openxmlformats.org/officeDocument/2006/relationships/slide" Target="/ppt/slides/slide3.xml" Id="R01d1e0f04d764b0a" /><Relationship Type="http://schemas.openxmlformats.org/officeDocument/2006/relationships/slide" Target="/ppt/slides/slide4.xml" Id="R9b450332d4c54b9c" /><Relationship Type="http://schemas.openxmlformats.org/officeDocument/2006/relationships/slide" Target="/ppt/slides/slide5.xml" Id="R4e2befe7324f460d" /><Relationship Type="http://schemas.openxmlformats.org/officeDocument/2006/relationships/slide" Target="/ppt/slides/slide6.xml" Id="R12908b566fe4467a" /><Relationship Type="http://schemas.openxmlformats.org/officeDocument/2006/relationships/slide" Target="/ppt/slides/slide7.xml" Id="Ra47f6ffb3f8f492f" /><Relationship Type="http://schemas.openxmlformats.org/officeDocument/2006/relationships/slide" Target="/ppt/slides/slide8.xml" Id="R55181d20637c4e0f" /><Relationship Type="http://schemas.openxmlformats.org/officeDocument/2006/relationships/slide" Target="/ppt/slides/slide9.xml" Id="R60297944cf894c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fb9c62e0c44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250cd6a26f4dd9" /><Relationship Type="http://schemas.openxmlformats.org/officeDocument/2006/relationships/notesMaster" Target="/ppt/notesMasters/notesMaster1.xml" Id="R49d91d2bbd6c48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42a51f3efc4471" /><Relationship Type="http://schemas.openxmlformats.org/officeDocument/2006/relationships/notesMaster" Target="/ppt/notesMasters/notesMaster1.xml" Id="Rfeb037460c2c47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1b51493584725" /><Relationship Type="http://schemas.openxmlformats.org/officeDocument/2006/relationships/notesMaster" Target="/ppt/notesMasters/notesMaster1.xml" Id="Ra9b526f1d3c64d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41e5aa45554135" /><Relationship Type="http://schemas.openxmlformats.org/officeDocument/2006/relationships/notesMaster" Target="/ppt/notesMasters/notesMaster1.xml" Id="R637555d9a9964c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5ea8a451974523" /><Relationship Type="http://schemas.openxmlformats.org/officeDocument/2006/relationships/notesMaster" Target="/ppt/notesMasters/notesMaster1.xml" Id="Rbec100fb6d5c4d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d31a326e424fe9" /><Relationship Type="http://schemas.openxmlformats.org/officeDocument/2006/relationships/notesMaster" Target="/ppt/notesMasters/notesMaster1.xml" Id="R2a60889d46974f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4ed26c9eff4721" /><Relationship Type="http://schemas.openxmlformats.org/officeDocument/2006/relationships/notesMaster" Target="/ppt/notesMasters/notesMaster1.xml" Id="Rec8dadb2917940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50f34765844c71" /><Relationship Type="http://schemas.openxmlformats.org/officeDocument/2006/relationships/notesMaster" Target="/ppt/notesMasters/notesMaster1.xml" Id="R40cb599a767443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d1d2951cf44cf3" /><Relationship Type="http://schemas.openxmlformats.org/officeDocument/2006/relationships/notesMaster" Target="/ppt/notesMasters/notesMaster1.xml" Id="R3093c9356b444ab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 I wanted to test whether descriptions could help connect work that has little exact history. This public-data pilot is an analog for a high-mix, low-volume manufacturing problem. Each material or task may be rare, but its description can still resemble other work. I used university maintenance records to explore the method without presenting factory information. The main finding is that the full model improved validation predictions, while compressing text into family labels added little beyond the full feature set. This is a validation study, with final testing still pending. Source: reports/fmucd_analysis_report.md and data/modeling/duration_pilot/validation_scores.csv.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The manufacturing motivation is uneven material history. Some products recur often, while others appear once. Engineering descriptions offer another way to relate them. I separated the idea into three questions. Do descriptions capture meaningful similarity? Can that similarity produce understandable work families? Do those families improve a prediction that matters? These questions need different evidence. A group of similar equipment descriptions may make sense to a reviewer without implying similar completion times. My goal was to compare the family feature with existing classifications and the original text representation, rather than assume that well-separated clusters would improve the model. This public dataset tests the workflow, but manufacturing performance requires its own evaluation. Source: reports/fmucd_analysis_report.md.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 FMUCD contains about 3.73 million records from 12 universities. I removed exact duplicate rows, audited order identifiers, checked descriptions and dates, and separated eligible records from exclusions. About 1.51 million rows remained eligible under the current rules. The training set contains 467,618 distinct task definitions, and about 96.8 percent have one training observation. A task combines a normalized work description with its system and component codes, so this is stricter than counting descriptions alone. I selected recorded WODuration as an initial target and checked it against dates. It measures elapsed days, including possible queue and administrative time. That limits the connection to manufacturing effort. Source: FMUCD V1, https://doi.org/10.17632/cb8d2nsjss.1, CC BY 4.0. Audit: data/clustering/manifest.json and reports/evidence/report_metrics.json.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 I organized the pipeline into exploration, embedding, clustering, and modeling notebooks. Exploration audits the records, defines task keys, and exports features separately from outcomes. Embedding compares work descriptions alone with descriptions plus classification text. Clustering compares text, numerical task profiles, and their combination. Modeling compares baselines and matched models with and without families. I fit text transformations and clusters using training tasks only. Training orders start and finish before March 25, 2019. Validation starts from March 25 through November 19 and finishes before November 20. Later starts belong to the test period. The completed modeling pilot samples 25,000 training orders and 10,000 validation orders. No completed final-test result is recorded. Source: data/clustering/split_summary.csv and data/modeling/duration_pilot/manifest.json.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 The completed text run used word unigram and bigram TF-IDF, 128-dimensional truncated SVD, and normalization. This is a lexical baseline. We have not yet tested a pretrained semantic encoder. The vocabulary and SVD fit used 20,000 training tasks. MiniBatch K-means fit up to 50,000 training tasks, comparing 8, 16, and 32 clusters with two seeds. Context text selected 32 clusters, silhouette 0.279 and cross-seed adjusted Rand index 0.854. Work text alone had lower seed agreement. Aggregate profiles produced high geometric scores, but their largest family held about 40 percent of training tasks and reflected missing building information and maintenance type. Context families closely followed component classifications. Silhouette across different feature spaces does not directly rank operational usefulness. Seed ARI measures repeatability, not expert agreement. Source: data/families/families_review/candidate_scores.csv and reports/evidence/cluster_profiles.csv.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 I compared five baselines and eighteen fitted candidates: six feature sets with Ridge, a decision tree, and Extra Trees. Optional neural-network fitting was disabled. This chart shows selected validation MSE results in squared days. Lower is better. The median baseline scored about 782, and existing-class Extra Trees scored 693. Full features brought that to 625. Full features include classification codes, 128 text dimensions, building attributes, university, priority, maintenance type, and calendar fields. Adding the text-family label reduced MSE from 624.57 to 622.08, about 0.4 percent. RMSE changed from 24.99 to 24.94 days. The family-only model was worse than the median baseline. The original features contain predictive signal, but this pilot has not established a dependable added benefit from family labels. We used one validation window and sample, with no paired uncertainty estimate. Source: data/modeling/duration_pilot/validation_scores.csv.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1:05. Overall performance hides important differences. The best candidate had validation R squared about 0.178. For previously seen task definitions, within-slice R squared was 0.255. For unseen tasks it was slightly negative, minus 0.032. Each slice uses its own outcome mean as the R squared reference. This warns that similarity has not yet solved the sparse-history problem that motivated the project. The longest-duration validation group, orders lasting at least 61 days, contained 1,010 of 10,000 orders but contributed about 62.8 percent of squared error. Predictions for that group were low by 44 days on average. Training and validation target distributions also shifted. These results motivate examining the target and error distribution before adding model complexity. Source: data/modeling/duration_pilot/validation_slices.csv and reports/evidence/report_metrics.json.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0:55. The family label comes from the same text vectors already available to the full model. It adds a summary rather than a new source of information. Limited incremental value is possible even when a grouping is sensible. Equipment similarity also does not guarantee similar elapsed completion time. University and building context can reflect local processes, and aggregate families were sensitive to missing data. The completed experiment used TF-IDF and SVD, so it does not settle whether a semantic encoder would perform better. The current code removes our added Work, System, Subsystem, and Component labels from concatenated text, but the saved runs predate that change. I have not treated cleanup as an improvement without rerunning the comparison. Source: reports/fmucd_analysis_report.md and current data_exp.ipynb.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0:45. I would hold the split and samples fixed while comparing clean work descriptions, classification descriptions alone, and their combination. I would compare a pretrained sentence encoder with TF-IDF and inspect nearest neighbors for similarity in actual work. I would repeat the target audit for LaborHours, which is closer to manufacturing effort if the records are usable. Rare and unseen task performance should remain central, with repeated chronological windows to assess consistency. After locking the approach using validation evidence, I would evaluate the held-out test once. My conclusion is that the workflow is useful, but family labels need stronger evidence. Manufacturing validation would require authorized descriptions, routings, and actual labor outcomes. Source: reports/fmucd_analysis_report.md, future-work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143c54784c40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4a2fbed11d439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b10d08c86346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ecbe96d1944f8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055b487c4e4a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7a2994088c48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F24EC8-9C5D-4E0B-847D-7E64E657ECE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0A9643F-A1D2-457E-B7EE-8778184A7DC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867C40-B258-49D2-84E9-25352A575E0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5BFCCB-6F19-43F8-92F6-38CBBC6072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CCB3CC-A9B5-43D6-8665-D85672F02E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C964952-BA89-40DC-8BC9-D5899CD7128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0CE5C8-F212-44FC-B30A-177CF07F5E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E370CF-2381-46D5-8A60-AFAD4306871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414975-F643-440D-A7D2-945AA302DB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FA4AAE-434B-4B36-AEC8-65F68AF9C01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291b12b81894d78" /><Relationship Type="http://schemas.openxmlformats.org/officeDocument/2006/relationships/slideLayout" Target="/ppt/slideLayouts/slideLayout1.xml" Id="R114324270eeb45dd" /><Relationship Type="http://schemas.openxmlformats.org/officeDocument/2006/relationships/slideLayout" Target="/ppt/slideLayouts/slideLayout2.xml" Id="Rf960638d6bf04a18" /><Relationship Type="http://schemas.openxmlformats.org/officeDocument/2006/relationships/slideLayout" Target="/ppt/slideLayouts/slideLayout3.xml" Id="R38f57bd9d0084b58" /><Relationship Type="http://schemas.openxmlformats.org/officeDocument/2006/relationships/slideLayout" Target="/ppt/slideLayouts/slideLayout4.xml" Id="R2de486110ad24876" /><Relationship Type="http://schemas.openxmlformats.org/officeDocument/2006/relationships/slideLayout" Target="/ppt/slideLayouts/slideLayout5.xml" Id="R6346cabd5183486f" /><Relationship Type="http://schemas.openxmlformats.org/officeDocument/2006/relationships/slideLayout" Target="/ppt/slideLayouts/slideLayout6.xml" Id="R76b6f5a696b94d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4324270eeb45dd"/>
    <p:sldLayoutId xmlns:r="http://schemas.openxmlformats.org/officeDocument/2006/relationships" id="2147483650" r:id="Rf960638d6bf04a18"/>
    <p:sldLayoutId xmlns:r="http://schemas.openxmlformats.org/officeDocument/2006/relationships" id="2147483651" r:id="R38f57bd9d0084b58"/>
    <p:sldLayoutId xmlns:r="http://schemas.openxmlformats.org/officeDocument/2006/relationships" id="2147483652" r:id="R2de486110ad24876"/>
    <p:sldLayoutId xmlns:r="http://schemas.openxmlformats.org/officeDocument/2006/relationships" id="2147483653" r:id="R6346cabd5183486f"/>
    <p:sldLayoutId xmlns:r="http://schemas.openxmlformats.org/officeDocument/2006/relationships" id="2147483654" r:id="R76b6f5a696b94d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fc57b147c94ddd" /><Relationship Type="http://schemas.openxmlformats.org/officeDocument/2006/relationships/notesSlide" Target="/ppt/notesSlides/notesSlide1.xml" Id="R7e2116ae63f74c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fcb8c416b74919" /><Relationship Type="http://schemas.openxmlformats.org/officeDocument/2006/relationships/notesSlide" Target="/ppt/notesSlides/notesSlide2.xml" Id="R589ca6dba49c44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01e3adb4c004530" /><Relationship Type="http://schemas.openxmlformats.org/officeDocument/2006/relationships/notesSlide" Target="/ppt/notesSlides/notesSlide3.xml" Id="R604a22e67887407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c1da1d8089d4e84" /><Relationship Type="http://schemas.openxmlformats.org/officeDocument/2006/relationships/notesSlide" Target="/ppt/notesSlides/notesSlide4.xml" Id="R28807e61c24a4a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60d884b44a944ca" /><Relationship Type="http://schemas.openxmlformats.org/officeDocument/2006/relationships/notesSlide" Target="/ppt/notesSlides/notesSlide5.xml" Id="Rb23f261be3f349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9e543971ba7424c" /><Relationship Type="http://schemas.openxmlformats.org/officeDocument/2006/relationships/chart" Target="/ppt/slides/charts/chart1.xml" Id="R8ef24909cb164ed4" /><Relationship Type="http://schemas.openxmlformats.org/officeDocument/2006/relationships/notesSlide" Target="/ppt/notesSlides/notesSlide6.xml" Id="R7564a44470174a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2ecbd2d97e4355" /><Relationship Type="http://schemas.openxmlformats.org/officeDocument/2006/relationships/notesSlide" Target="/ppt/notesSlides/notesSlide7.xml" Id="R0b1ee05a81964d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dff432a96eb4d1c" /><Relationship Type="http://schemas.openxmlformats.org/officeDocument/2006/relationships/notesSlide" Target="/ppt/notesSlides/notesSlide8.xml" Id="R3d0af6f574ad48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9a78a1cfcce42a4" /><Relationship Type="http://schemas.openxmlformats.org/officeDocument/2006/relationships/notesSlide" Target="/ppt/notesSlides/notesSlide9.xml" Id="Rfc997b505d4f42f4" /></Relationships>
</file>

<file path=ppt/slides/charts/chart1.xml><?xml version="1.0" encoding="utf-8"?>
<c:chartSpace xmlns:c="http://schemas.openxmlformats.org/drawingml/2006/chart">
  <c:lang val="en-US"/>
  <c:chart>
    <c:plotArea>
      <c:barChart>
        <c:barDir val="bar"/>
        <c:grouping val="clustered"/>
        <c:varyColors val="0"/>
        <c:ser>
          <c:idx val="0"/>
          <c:order val="0"/>
          <c:tx>
            <c:v>Validation MSE</c:v>
          </c:tx>
          <c:spPr>
            <a:solidFill xmlns:a="http://schemas.openxmlformats.org/drawingml/2006/main">
              <a:srgbClr val="007F86"/>
            </a:solidFill>
          </c:spPr>
          <c:invertIfNegative val="0"/>
          <c:cat>
            <c:strLit>
              <c:ptCount val="4"/>
              <c:pt idx="0">
                <c:v>Median baseline</c:v>
              </c:pt>
              <c:pt idx="1">
                <c:v>Existing classes</c:v>
              </c:pt>
              <c:pt idx="2">
                <c:v>Full features</c:v>
              </c:pt>
              <c:pt idx="3">
                <c:v>Full + family</c:v>
              </c:pt>
            </c:strLit>
          </c:cat>
          <c:val>
            <c:numLit>
              <c:formatCode>0.0</c:formatCode>
              <c:ptCount val="4"/>
              <c:pt idx="0">
                <c:v>781.9437</c:v>
              </c:pt>
              <c:pt idx="1">
                <c:v>693.3498</c:v>
              </c:pt>
              <c:pt idx="2">
                <c:v>624.5721</c:v>
              </c:pt>
              <c:pt idx="3">
                <c:v>622.0774</c:v>
              </c:pt>
            </c:numLit>
          </c:val>
        </c:ser>
        <c:dLbls>
          <c:numFmt formatCode="0.0" sourceLinked="0"/>
          <c:txPr>
            <a:bodyPr xmlns:a="http://schemas.openxmlformats.org/drawingml/2006/main" anchorCtr="1"/>
            <a:lstStyle xmlns:a="http://schemas.openxmlformats.org/drawingml/2006/main"/>
            <a:p xmlns:a="http://schemas.openxmlformats.org/drawingml/2006/main">
              <a:pPr>
                <a:defRPr sz="1650"/>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defRPr>
            </a:pPr>
          </a:p>
        </c:txPr>
        <c:crossAx val="48672768"/>
      </c:catAx>
      <c:valAx>
        <c:axId val="48672768"/>
        <c:scaling>
          <c:orientation val="minMax"/>
          <c:max val="9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42D4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6C0EEC1-2A52-4C05-890F-50568F50786C}"/>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Text-derived work families</a:t>
            </a:r>
          </a:p>
          <a:p xmlns:a="http://schemas.openxmlformats.org/drawingml/2006/main">
            <a:pPr>
              <a:defRPr sz="3300" b="1">
                <a:solidFill>
                  <a:srgbClr val="FFFFFF"/>
                </a:solidFill>
              </a:defRPr>
            </a:pPr>
            <a:r>
              <a:rPr sz="3300" b="1">
                <a:solidFill>
                  <a:srgbClr val="FFFFFF"/>
                </a:solidFill>
              </a:rPr>
              <a:t>for duration estimation</a:t>
            </a:r>
          </a:p>
        </p:txBody>
      </p:sp>
      <p:sp>
        <p:nvSpPr>
          <p:cNvPr id="3" name="">
            <a:extLst xmlns:a="http://schemas.openxmlformats.org/drawingml/2006/main">
              <a:ext uri="{FF2B5EF4-FFF2-40B4-BE49-F238E27FC236}">
                <a16:creationId xmlns:a16="http://schemas.microsoft.com/office/drawing/2014/main" id="{1D718F1A-C86D-4B97-96D2-1221C3CDD73B}"/>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CD7"/>
                </a:solidFill>
              </a:defRPr>
            </a:defPPr>
            <a:lvl1pPr>
              <a:defRPr sz="1350" b="0">
                <a:solidFill>
                  <a:srgbClr val="B7CCD7"/>
                </a:solidFill>
              </a:defRPr>
            </a:lvl1pPr>
            <a:lvl2pPr>
              <a:defRPr sz="1350" b="0">
                <a:solidFill>
                  <a:srgbClr val="B7CCD7"/>
                </a:solidFill>
              </a:defRPr>
            </a:lvl2pPr>
            <a:lvl3pPr>
              <a:defRPr sz="1350" b="0">
                <a:solidFill>
                  <a:srgbClr val="B7CCD7"/>
                </a:solidFill>
              </a:defRPr>
            </a:lvl3pPr>
            <a:lvl4pPr>
              <a:defRPr sz="1350" b="0">
                <a:solidFill>
                  <a:srgbClr val="B7CCD7"/>
                </a:solidFill>
              </a:defRPr>
            </a:lvl4pPr>
            <a:lvl5pPr>
              <a:defRPr sz="1350" b="0">
                <a:solidFill>
                  <a:srgbClr val="B7CCD7"/>
                </a:solidFill>
              </a:defRPr>
            </a:lvl5pPr>
            <a:lvl6pPr>
              <a:defRPr sz="1350" b="0">
                <a:solidFill>
                  <a:srgbClr val="B7CCD7"/>
                </a:solidFill>
              </a:defRPr>
            </a:lvl6pPr>
            <a:lvl7pPr>
              <a:defRPr sz="1350" b="0">
                <a:solidFill>
                  <a:srgbClr val="B7CCD7"/>
                </a:solidFill>
              </a:defRPr>
            </a:lvl7pPr>
            <a:lvl8pPr>
              <a:defRPr sz="1350" b="0">
                <a:solidFill>
                  <a:srgbClr val="B7CCD7"/>
                </a:solidFill>
              </a:defRPr>
            </a:lvl8pPr>
            <a:lvl9pPr>
              <a:defRPr sz="1350" b="0">
                <a:solidFill>
                  <a:srgbClr val="B7CCD7"/>
                </a:solidFill>
              </a:defRPr>
            </a:lvl9pPr>
          </a:lstStyle>
          <a:p xmlns:a="http://schemas.openxmlformats.org/drawingml/2006/main">
            <a:pPr>
              <a:defRPr sz="1350" b="0">
                <a:solidFill>
                  <a:srgbClr val="B7CCD7"/>
                </a:solidFill>
              </a:defRPr>
            </a:pPr>
            <a:r>
              <a:rPr sz="1350" b="0">
                <a:solidFill>
                  <a:srgbClr val="B7CCD7"/>
                </a:solidFill>
              </a:rPr>
              <a:t>01</a:t>
            </a:r>
          </a:p>
        </p:txBody>
      </p:sp>
      <p:sp>
        <p:nvSpPr>
          <p:cNvPr id="4" name="">
            <a:extLst xmlns:a="http://schemas.openxmlformats.org/drawingml/2006/main">
              <a:ext uri="{FF2B5EF4-FFF2-40B4-BE49-F238E27FC236}">
                <a16:creationId xmlns:a16="http://schemas.microsoft.com/office/drawing/2014/main" id="{2DB6D965-629B-4BD6-8C36-73F89CA22956}"/>
              </a:ext>
            </a:extLst>
          </p:cNvPr>
          <p:cNvSpPr>
            <a:spLocks xmlns:a="http://schemas.openxmlformats.org/drawingml/2006/main" noGrp="1"/>
          </p:cNvSpPr>
          <p:nvPr/>
        </p:nvSpPr>
        <p:spPr>
          <a:xfrm xmlns:a="http://schemas.openxmlformats.org/drawingml/2006/main">
            <a:off x="666750" y="28575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7CCD7"/>
                </a:solidFill>
              </a:defRPr>
            </a:defPPr>
            <a:lvl1pPr>
              <a:defRPr sz="2250" b="0">
                <a:solidFill>
                  <a:srgbClr val="B7CCD7"/>
                </a:solidFill>
              </a:defRPr>
            </a:lvl1pPr>
            <a:lvl2pPr>
              <a:defRPr sz="2250" b="0">
                <a:solidFill>
                  <a:srgbClr val="B7CCD7"/>
                </a:solidFill>
              </a:defRPr>
            </a:lvl2pPr>
            <a:lvl3pPr>
              <a:defRPr sz="2250" b="0">
                <a:solidFill>
                  <a:srgbClr val="B7CCD7"/>
                </a:solidFill>
              </a:defRPr>
            </a:lvl3pPr>
            <a:lvl4pPr>
              <a:defRPr sz="2250" b="0">
                <a:solidFill>
                  <a:srgbClr val="B7CCD7"/>
                </a:solidFill>
              </a:defRPr>
            </a:lvl4pPr>
            <a:lvl5pPr>
              <a:defRPr sz="2250" b="0">
                <a:solidFill>
                  <a:srgbClr val="B7CCD7"/>
                </a:solidFill>
              </a:defRPr>
            </a:lvl5pPr>
            <a:lvl6pPr>
              <a:defRPr sz="2250" b="0">
                <a:solidFill>
                  <a:srgbClr val="B7CCD7"/>
                </a:solidFill>
              </a:defRPr>
            </a:lvl6pPr>
            <a:lvl7pPr>
              <a:defRPr sz="2250" b="0">
                <a:solidFill>
                  <a:srgbClr val="B7CCD7"/>
                </a:solidFill>
              </a:defRPr>
            </a:lvl7pPr>
            <a:lvl8pPr>
              <a:defRPr sz="2250" b="0">
                <a:solidFill>
                  <a:srgbClr val="B7CCD7"/>
                </a:solidFill>
              </a:defRPr>
            </a:lvl8pPr>
            <a:lvl9pPr>
              <a:defRPr sz="2250" b="0">
                <a:solidFill>
                  <a:srgbClr val="B7CCD7"/>
                </a:solidFill>
              </a:defRPr>
            </a:lvl9pPr>
          </a:lstStyle>
          <a:p xmlns:a="http://schemas.openxmlformats.org/drawingml/2006/main">
            <a:pPr>
              <a:defRPr sz="2250" b="0">
                <a:solidFill>
                  <a:srgbClr val="B7CCD7"/>
                </a:solidFill>
              </a:defRPr>
            </a:pPr>
            <a:r>
              <a:rPr sz="2250" b="0">
                <a:solidFill>
                  <a:srgbClr val="B7CCD7"/>
                </a:solidFill>
              </a:rPr>
              <a:t>FMUCD public maintenance records</a:t>
            </a:r>
          </a:p>
        </p:txBody>
      </p:sp>
      <p:sp>
        <p:nvSpPr>
          <p:cNvPr id="5" name="">
            <a:extLst xmlns:a="http://schemas.openxmlformats.org/drawingml/2006/main">
              <a:ext uri="{FF2B5EF4-FFF2-40B4-BE49-F238E27FC236}">
                <a16:creationId xmlns:a16="http://schemas.microsoft.com/office/drawing/2014/main" id="{2A388A52-3135-4BF4-B224-4807FF1F6714}"/>
              </a:ext>
            </a:extLst>
          </p:cNvPr>
          <p:cNvSpPr>
            <a:spLocks xmlns:a="http://schemas.openxmlformats.org/drawingml/2006/main" noGrp="1"/>
          </p:cNvSpPr>
          <p:nvPr/>
        </p:nvSpPr>
        <p:spPr>
          <a:xfrm xmlns:a="http://schemas.openxmlformats.org/drawingml/2006/main">
            <a:off x="666750" y="457200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FFFFF"/>
                </a:solidFill>
              </a:defRPr>
            </a:defPPr>
            <a:lvl1pPr>
              <a:defRPr sz="1950" b="0">
                <a:solidFill>
                  <a:srgbClr val="FFFFFF"/>
                </a:solidFill>
              </a:defRPr>
            </a:lvl1pPr>
            <a:lvl2pPr>
              <a:defRPr sz="1950" b="0">
                <a:solidFill>
                  <a:srgbClr val="FFFFFF"/>
                </a:solidFill>
              </a:defRPr>
            </a:lvl2pPr>
            <a:lvl3pPr>
              <a:defRPr sz="1950" b="0">
                <a:solidFill>
                  <a:srgbClr val="FFFFFF"/>
                </a:solidFill>
              </a:defRPr>
            </a:lvl3pPr>
            <a:lvl4pPr>
              <a:defRPr sz="1950" b="0">
                <a:solidFill>
                  <a:srgbClr val="FFFFFF"/>
                </a:solidFill>
              </a:defRPr>
            </a:lvl4pPr>
            <a:lvl5pPr>
              <a:defRPr sz="1950" b="0">
                <a:solidFill>
                  <a:srgbClr val="FFFFFF"/>
                </a:solidFill>
              </a:defRPr>
            </a:lvl5pPr>
            <a:lvl6pPr>
              <a:defRPr sz="1950" b="0">
                <a:solidFill>
                  <a:srgbClr val="FFFFFF"/>
                </a:solidFill>
              </a:defRPr>
            </a:lvl6pPr>
            <a:lvl7pPr>
              <a:defRPr sz="1950" b="0">
                <a:solidFill>
                  <a:srgbClr val="FFFFFF"/>
                </a:solidFill>
              </a:defRPr>
            </a:lvl7pPr>
            <a:lvl8pPr>
              <a:defRPr sz="1950" b="0">
                <a:solidFill>
                  <a:srgbClr val="FFFFFF"/>
                </a:solidFill>
              </a:defRPr>
            </a:lvl8pPr>
            <a:lvl9pPr>
              <a:defRPr sz="1950" b="0">
                <a:solidFill>
                  <a:srgbClr val="FFFFFF"/>
                </a:solidFill>
              </a:defRPr>
            </a:lvl9pPr>
          </a:lstStyle>
          <a:p xmlns:a="http://schemas.openxmlformats.org/drawingml/2006/main">
            <a:pPr>
              <a:defRPr sz="1950" b="0">
                <a:solidFill>
                  <a:srgbClr val="FFFFFF"/>
                </a:solidFill>
              </a:defRPr>
            </a:pPr>
            <a:r>
              <a:rPr sz="1950" b="0">
                <a:solidFill>
                  <a:srgbClr val="FFFFFF"/>
                </a:solidFill>
              </a:rPr>
              <a:t>Quincy Nickens</a:t>
            </a:r>
          </a:p>
          <a:p xmlns:a="http://schemas.openxmlformats.org/drawingml/2006/main">
            <a:pPr>
              <a:defRPr sz="1950" b="0">
                <a:solidFill>
                  <a:srgbClr val="FFFFFF"/>
                </a:solidFill>
              </a:defRPr>
            </a:pPr>
            <a:r>
              <a:rPr sz="1950" b="0">
                <a:solidFill>
                  <a:srgbClr val="FFFFFF"/>
                </a:solidFill>
              </a:rPr>
              <a:t>Interview presentation draft, October 2026</a:t>
            </a:r>
          </a:p>
        </p:txBody>
      </p:sp>
    </p:spTree>
    <p:extLst>
      <p:ext uri="{BB962C8B-B14F-4D97-AF65-F5344CB8AC3E}">
        <p14:creationId xmlns:p14="http://schemas.microsoft.com/office/powerpoint/2010/main" val="7266597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21B556-B6D6-47F8-B4ED-2B365E656F21}"/>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The hypothesis</a:t>
            </a:r>
          </a:p>
        </p:txBody>
      </p:sp>
      <p:sp>
        <p:nvSpPr>
          <p:cNvPr id="3" name="">
            <a:extLst xmlns:a="http://schemas.openxmlformats.org/drawingml/2006/main">
              <a:ext uri="{FF2B5EF4-FFF2-40B4-BE49-F238E27FC236}">
                <a16:creationId xmlns:a16="http://schemas.microsoft.com/office/drawing/2014/main" id="{6A37A25D-0E07-4668-A41E-A5571CF00338}"/>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02</a:t>
            </a:r>
          </a:p>
        </p:txBody>
      </p:sp>
      <p:sp>
        <p:nvSpPr>
          <p:cNvPr id="4" name="">
            <a:extLst xmlns:a="http://schemas.openxmlformats.org/drawingml/2006/main">
              <a:ext uri="{FF2B5EF4-FFF2-40B4-BE49-F238E27FC236}">
                <a16:creationId xmlns:a16="http://schemas.microsoft.com/office/drawing/2014/main" id="{8E72E510-3BBF-4651-9408-815AA8B94832}"/>
              </a:ext>
            </a:extLst>
          </p:cNvPr>
          <p:cNvSpPr>
            <a:spLocks xmlns:a="http://schemas.openxmlformats.org/drawingml/2006/main" noGrp="1"/>
          </p:cNvSpPr>
          <p:nvPr/>
        </p:nvSpPr>
        <p:spPr>
          <a:xfrm xmlns:a="http://schemas.openxmlformats.org/drawingml/2006/main">
            <a:off x="666750" y="18573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D3B"/>
                </a:solidFill>
              </a:defRPr>
            </a:defPPr>
            <a:lvl1pPr>
              <a:defRPr sz="2175" b="0">
                <a:solidFill>
                  <a:srgbClr val="192D3B"/>
                </a:solidFill>
              </a:defRPr>
            </a:lvl1pPr>
            <a:lvl2pPr>
              <a:defRPr sz="2175" b="0">
                <a:solidFill>
                  <a:srgbClr val="192D3B"/>
                </a:solidFill>
              </a:defRPr>
            </a:lvl2pPr>
            <a:lvl3pPr>
              <a:defRPr sz="2175" b="0">
                <a:solidFill>
                  <a:srgbClr val="192D3B"/>
                </a:solidFill>
              </a:defRPr>
            </a:lvl3pPr>
            <a:lvl4pPr>
              <a:defRPr sz="2175" b="0">
                <a:solidFill>
                  <a:srgbClr val="192D3B"/>
                </a:solidFill>
              </a:defRPr>
            </a:lvl4pPr>
            <a:lvl5pPr>
              <a:defRPr sz="2175" b="0">
                <a:solidFill>
                  <a:srgbClr val="192D3B"/>
                </a:solidFill>
              </a:defRPr>
            </a:lvl5pPr>
            <a:lvl6pPr>
              <a:defRPr sz="2175" b="0">
                <a:solidFill>
                  <a:srgbClr val="192D3B"/>
                </a:solidFill>
              </a:defRPr>
            </a:lvl6pPr>
            <a:lvl7pPr>
              <a:defRPr sz="2175" b="0">
                <a:solidFill>
                  <a:srgbClr val="192D3B"/>
                </a:solidFill>
              </a:defRPr>
            </a:lvl7pPr>
            <a:lvl8pPr>
              <a:defRPr sz="2175" b="0">
                <a:solidFill>
                  <a:srgbClr val="192D3B"/>
                </a:solidFill>
              </a:defRPr>
            </a:lvl8pPr>
            <a:lvl9pPr>
              <a:defRPr sz="2175" b="0">
                <a:solidFill>
                  <a:srgbClr val="192D3B"/>
                </a:solidFill>
              </a:defRPr>
            </a:lvl9pPr>
          </a:lstStyle>
          <a:p xmlns:a="http://schemas.openxmlformats.org/drawingml/2006/main">
            <a:pPr>
              <a:defRPr sz="2175" b="0">
                <a:solidFill>
                  <a:srgbClr val="192D3B"/>
                </a:solidFill>
              </a:defRPr>
            </a:pPr>
            <a:r>
              <a:rPr sz="2175" b="0">
                <a:solidFill>
                  <a:srgbClr val="192D3B"/>
                </a:solidFill>
              </a:rPr>
              <a:t>1   Similar descriptions may connect rare work</a:t>
            </a:r>
          </a:p>
        </p:txBody>
      </p:sp>
      <p:sp>
        <p:nvSpPr>
          <p:cNvPr id="5" name="">
            <a:extLst xmlns:a="http://schemas.openxmlformats.org/drawingml/2006/main">
              <a:ext uri="{FF2B5EF4-FFF2-40B4-BE49-F238E27FC236}">
                <a16:creationId xmlns:a16="http://schemas.microsoft.com/office/drawing/2014/main" id="{537E346F-9E48-4C8F-80B1-8BBF9E4A5AD2}"/>
              </a:ext>
            </a:extLst>
          </p:cNvPr>
          <p:cNvSpPr>
            <a:spLocks xmlns:a="http://schemas.openxmlformats.org/drawingml/2006/main" noGrp="1"/>
          </p:cNvSpPr>
          <p:nvPr/>
        </p:nvSpPr>
        <p:spPr>
          <a:xfrm xmlns:a="http://schemas.openxmlformats.org/drawingml/2006/main">
            <a:off x="666750" y="30003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D3B"/>
                </a:solidFill>
              </a:defRPr>
            </a:defPPr>
            <a:lvl1pPr>
              <a:defRPr sz="2175" b="0">
                <a:solidFill>
                  <a:srgbClr val="192D3B"/>
                </a:solidFill>
              </a:defRPr>
            </a:lvl1pPr>
            <a:lvl2pPr>
              <a:defRPr sz="2175" b="0">
                <a:solidFill>
                  <a:srgbClr val="192D3B"/>
                </a:solidFill>
              </a:defRPr>
            </a:lvl2pPr>
            <a:lvl3pPr>
              <a:defRPr sz="2175" b="0">
                <a:solidFill>
                  <a:srgbClr val="192D3B"/>
                </a:solidFill>
              </a:defRPr>
            </a:lvl3pPr>
            <a:lvl4pPr>
              <a:defRPr sz="2175" b="0">
                <a:solidFill>
                  <a:srgbClr val="192D3B"/>
                </a:solidFill>
              </a:defRPr>
            </a:lvl4pPr>
            <a:lvl5pPr>
              <a:defRPr sz="2175" b="0">
                <a:solidFill>
                  <a:srgbClr val="192D3B"/>
                </a:solidFill>
              </a:defRPr>
            </a:lvl5pPr>
            <a:lvl6pPr>
              <a:defRPr sz="2175" b="0">
                <a:solidFill>
                  <a:srgbClr val="192D3B"/>
                </a:solidFill>
              </a:defRPr>
            </a:lvl6pPr>
            <a:lvl7pPr>
              <a:defRPr sz="2175" b="0">
                <a:solidFill>
                  <a:srgbClr val="192D3B"/>
                </a:solidFill>
              </a:defRPr>
            </a:lvl7pPr>
            <a:lvl8pPr>
              <a:defRPr sz="2175" b="0">
                <a:solidFill>
                  <a:srgbClr val="192D3B"/>
                </a:solidFill>
              </a:defRPr>
            </a:lvl8pPr>
            <a:lvl9pPr>
              <a:defRPr sz="2175" b="0">
                <a:solidFill>
                  <a:srgbClr val="192D3B"/>
                </a:solidFill>
              </a:defRPr>
            </a:lvl9pPr>
          </a:lstStyle>
          <a:p xmlns:a="http://schemas.openxmlformats.org/drawingml/2006/main">
            <a:pPr>
              <a:defRPr sz="2175" b="0">
                <a:solidFill>
                  <a:srgbClr val="192D3B"/>
                </a:solidFill>
              </a:defRPr>
            </a:pPr>
            <a:r>
              <a:rPr sz="2175" b="0">
                <a:solidFill>
                  <a:srgbClr val="192D3B"/>
                </a:solidFill>
              </a:rPr>
              <a:t>2   Similar work may form interpretable families</a:t>
            </a:r>
          </a:p>
        </p:txBody>
      </p:sp>
      <p:sp>
        <p:nvSpPr>
          <p:cNvPr id="6" name="">
            <a:extLst xmlns:a="http://schemas.openxmlformats.org/drawingml/2006/main">
              <a:ext uri="{FF2B5EF4-FFF2-40B4-BE49-F238E27FC236}">
                <a16:creationId xmlns:a16="http://schemas.microsoft.com/office/drawing/2014/main" id="{95B081B7-210A-47DA-9807-3B1D7AFDEF1F}"/>
              </a:ext>
            </a:extLst>
          </p:cNvPr>
          <p:cNvSpPr>
            <a:spLocks xmlns:a="http://schemas.openxmlformats.org/drawingml/2006/main" noGrp="1"/>
          </p:cNvSpPr>
          <p:nvPr/>
        </p:nvSpPr>
        <p:spPr>
          <a:xfrm xmlns:a="http://schemas.openxmlformats.org/drawingml/2006/main">
            <a:off x="666750" y="41433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D3B"/>
                </a:solidFill>
              </a:defRPr>
            </a:defPPr>
            <a:lvl1pPr>
              <a:defRPr sz="2175" b="0">
                <a:solidFill>
                  <a:srgbClr val="192D3B"/>
                </a:solidFill>
              </a:defRPr>
            </a:lvl1pPr>
            <a:lvl2pPr>
              <a:defRPr sz="2175" b="0">
                <a:solidFill>
                  <a:srgbClr val="192D3B"/>
                </a:solidFill>
              </a:defRPr>
            </a:lvl2pPr>
            <a:lvl3pPr>
              <a:defRPr sz="2175" b="0">
                <a:solidFill>
                  <a:srgbClr val="192D3B"/>
                </a:solidFill>
              </a:defRPr>
            </a:lvl3pPr>
            <a:lvl4pPr>
              <a:defRPr sz="2175" b="0">
                <a:solidFill>
                  <a:srgbClr val="192D3B"/>
                </a:solidFill>
              </a:defRPr>
            </a:lvl4pPr>
            <a:lvl5pPr>
              <a:defRPr sz="2175" b="0">
                <a:solidFill>
                  <a:srgbClr val="192D3B"/>
                </a:solidFill>
              </a:defRPr>
            </a:lvl5pPr>
            <a:lvl6pPr>
              <a:defRPr sz="2175" b="0">
                <a:solidFill>
                  <a:srgbClr val="192D3B"/>
                </a:solidFill>
              </a:defRPr>
            </a:lvl6pPr>
            <a:lvl7pPr>
              <a:defRPr sz="2175" b="0">
                <a:solidFill>
                  <a:srgbClr val="192D3B"/>
                </a:solidFill>
              </a:defRPr>
            </a:lvl7pPr>
            <a:lvl8pPr>
              <a:defRPr sz="2175" b="0">
                <a:solidFill>
                  <a:srgbClr val="192D3B"/>
                </a:solidFill>
              </a:defRPr>
            </a:lvl8pPr>
            <a:lvl9pPr>
              <a:defRPr sz="2175" b="0">
                <a:solidFill>
                  <a:srgbClr val="192D3B"/>
                </a:solidFill>
              </a:defRPr>
            </a:lvl9pPr>
          </a:lstStyle>
          <a:p xmlns:a="http://schemas.openxmlformats.org/drawingml/2006/main">
            <a:pPr>
              <a:defRPr sz="2175" b="0">
                <a:solidFill>
                  <a:srgbClr val="192D3B"/>
                </a:solidFill>
              </a:defRPr>
            </a:pPr>
            <a:r>
              <a:rPr sz="2175" b="0">
                <a:solidFill>
                  <a:srgbClr val="192D3B"/>
                </a:solidFill>
              </a:rPr>
              <a:t>3   Family labels may improve duration estimates</a:t>
            </a:r>
          </a:p>
        </p:txBody>
      </p:sp>
      <p:sp>
        <p:nvSpPr>
          <p:cNvPr id="7" name="">
            <a:extLst xmlns:a="http://schemas.openxmlformats.org/drawingml/2006/main">
              <a:ext uri="{FF2B5EF4-FFF2-40B4-BE49-F238E27FC236}">
                <a16:creationId xmlns:a16="http://schemas.microsoft.com/office/drawing/2014/main" id="{39E62C01-3770-4710-8ECA-DBDEFA190ED2}"/>
              </a:ext>
            </a:extLst>
          </p:cNvPr>
          <p:cNvSpPr>
            <a:spLocks xmlns:a="http://schemas.openxmlformats.org/drawingml/2006/main" noGrp="1"/>
          </p:cNvSpPr>
          <p:nvPr/>
        </p:nvSpPr>
        <p:spPr>
          <a:xfrm xmlns:a="http://schemas.openxmlformats.org/drawingml/2006/main">
            <a:off x="666750" y="5619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007F86"/>
                </a:solidFill>
              </a:defRPr>
            </a:defPPr>
            <a:lvl1pPr>
              <a:defRPr sz="1950" b="1">
                <a:solidFill>
                  <a:srgbClr val="007F86"/>
                </a:solidFill>
              </a:defRPr>
            </a:lvl1pPr>
            <a:lvl2pPr>
              <a:defRPr sz="1950" b="1">
                <a:solidFill>
                  <a:srgbClr val="007F86"/>
                </a:solidFill>
              </a:defRPr>
            </a:lvl2pPr>
            <a:lvl3pPr>
              <a:defRPr sz="1950" b="1">
                <a:solidFill>
                  <a:srgbClr val="007F86"/>
                </a:solidFill>
              </a:defRPr>
            </a:lvl3pPr>
            <a:lvl4pPr>
              <a:defRPr sz="1950" b="1">
                <a:solidFill>
                  <a:srgbClr val="007F86"/>
                </a:solidFill>
              </a:defRPr>
            </a:lvl4pPr>
            <a:lvl5pPr>
              <a:defRPr sz="1950" b="1">
                <a:solidFill>
                  <a:srgbClr val="007F86"/>
                </a:solidFill>
              </a:defRPr>
            </a:lvl5pPr>
            <a:lvl6pPr>
              <a:defRPr sz="1950" b="1">
                <a:solidFill>
                  <a:srgbClr val="007F86"/>
                </a:solidFill>
              </a:defRPr>
            </a:lvl6pPr>
            <a:lvl7pPr>
              <a:defRPr sz="1950" b="1">
                <a:solidFill>
                  <a:srgbClr val="007F86"/>
                </a:solidFill>
              </a:defRPr>
            </a:lvl7pPr>
            <a:lvl8pPr>
              <a:defRPr sz="1950" b="1">
                <a:solidFill>
                  <a:srgbClr val="007F86"/>
                </a:solidFill>
              </a:defRPr>
            </a:lvl8pPr>
            <a:lvl9pPr>
              <a:defRPr sz="1950" b="1">
                <a:solidFill>
                  <a:srgbClr val="007F86"/>
                </a:solidFill>
              </a:defRPr>
            </a:lvl9pPr>
          </a:lstStyle>
          <a:p xmlns:a="http://schemas.openxmlformats.org/drawingml/2006/main">
            <a:pPr>
              <a:defRPr sz="1950" b="1">
                <a:solidFill>
                  <a:srgbClr val="007F86"/>
                </a:solidFill>
              </a:defRPr>
            </a:pPr>
            <a:r>
              <a:rPr sz="1950" b="1">
                <a:solidFill>
                  <a:srgbClr val="007F86"/>
                </a:solidFill>
              </a:rPr>
              <a:t>Family quality and predictive value need separate checks</a:t>
            </a:r>
          </a:p>
        </p:txBody>
      </p:sp>
    </p:spTree>
    <p:extLst>
      <p:ext uri="{BB962C8B-B14F-4D97-AF65-F5344CB8AC3E}">
        <p14:creationId xmlns:p14="http://schemas.microsoft.com/office/powerpoint/2010/main" val="1357186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E4D058C-B104-40EF-B8C2-579AC5D0095D}"/>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Data and target</a:t>
            </a:r>
          </a:p>
        </p:txBody>
      </p:sp>
      <p:sp>
        <p:nvSpPr>
          <p:cNvPr id="3" name="">
            <a:extLst xmlns:a="http://schemas.openxmlformats.org/drawingml/2006/main">
              <a:ext uri="{FF2B5EF4-FFF2-40B4-BE49-F238E27FC236}">
                <a16:creationId xmlns:a16="http://schemas.microsoft.com/office/drawing/2014/main" id="{5D9E26A6-0E68-4420-8CD8-735E78044093}"/>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03</a:t>
            </a:r>
          </a:p>
        </p:txBody>
      </p:sp>
      <p:graphicFrame>
        <p:nvGraphicFramePr>
          <p:cNvPr id="4" name="">
            <a:extLst xmlns:a="http://schemas.openxmlformats.org/drawingml/2006/main">
              <a:ext uri="{FF2B5EF4-FFF2-40B4-BE49-F238E27FC236}">
                <a16:creationId xmlns:a16="http://schemas.microsoft.com/office/drawing/2014/main" id="{E0D952E7-39EC-475C-B948-D7739AD1CF02}"/>
              </a:ext>
            </a:extLst>
          </p:cNvPr>
          <p:cNvGraphicFramePr/>
          <p:nvPr/>
        </p:nvGraphicFramePr>
        <p:xfrm>
          <a:off xmlns:a="http://schemas.openxmlformats.org/drawingml/2006/main" x="666750" y="1666875"/>
          <a:ext xmlns:a="http://schemas.openxmlformats.org/drawingml/2006/main" cx="10858500" cy="3048000"/>
        </p:xfrm>
        <a:graphic xmlns:a="http://schemas.openxmlformats.org/drawingml/2006/main">
          <a:graphicData uri="http://schemas.openxmlformats.org/drawingml/2006/table">
            <a:tbl>
              <a:tblPr/>
              <a:tblGrid>
                <a:gridCol w="7239000"/>
                <a:gridCol w="3619500"/>
              </a:tblGrid>
              <a:tr h="609600">
                <a:tc>
                  <a:txBody>
                    <a:bodyPr/>
                    <a:lstStyle/>
                    <a:p>
                      <a:r>
                        <a:rPr sz="1875" b="1">
                          <a:solidFill>
                            <a:srgbClr val="FFFFFF"/>
                          </a:solidFill>
                        </a:rPr>
                        <a:t>Measure</a:t>
                      </a:r>
                    </a:p>
                  </a:txBody>
                  <a:tcPr marL="91440" marR="91440" marT="45720" marB="45720">
                    <a:solidFill>
                      <a:srgbClr val="142D42"/>
                    </a:solidFill>
                  </a:tcPr>
                </a:tc>
                <a:tc>
                  <a:txBody>
                    <a:bodyPr/>
                    <a:lstStyle/>
                    <a:p>
                      <a:r>
                        <a:rPr sz="1875" b="1">
                          <a:solidFill>
                            <a:srgbClr val="FFFFFF"/>
                          </a:solidFill>
                        </a:rPr>
                        <a:t>Count</a:t>
                      </a:r>
                    </a:p>
                  </a:txBody>
                  <a:tcPr marL="91440" marR="91440" marT="45720" marB="45720">
                    <a:solidFill>
                      <a:srgbClr val="142D42"/>
                    </a:solidFill>
                  </a:tcPr>
                </a:tc>
              </a:tr>
              <a:tr h="609600">
                <a:tc>
                  <a:txBody>
                    <a:bodyPr/>
                    <a:lstStyle/>
                    <a:p>
                      <a:r>
                        <a:rPr sz="1875" b="0">
                          <a:solidFill>
                            <a:srgbClr val="192D3B"/>
                          </a:solidFill>
                        </a:rPr>
                        <a:t>Raw records</a:t>
                      </a:r>
                    </a:p>
                  </a:txBody>
                  <a:tcPr marL="91440" marR="91440" marT="45720" marB="45720">
                    <a:solidFill>
                      <a:srgbClr val="F1F5F7"/>
                    </a:solidFill>
                  </a:tcPr>
                </a:tc>
                <a:tc>
                  <a:txBody>
                    <a:bodyPr/>
                    <a:lstStyle/>
                    <a:p>
                      <a:r>
                        <a:rPr sz="1875" b="0">
                          <a:solidFill>
                            <a:srgbClr val="192D3B"/>
                          </a:solidFill>
                        </a:rPr>
                        <a:t>3.73 million</a:t>
                      </a:r>
                    </a:p>
                  </a:txBody>
                  <a:tcPr marL="91440" marR="91440" marT="45720" marB="45720">
                    <a:solidFill>
                      <a:srgbClr val="F1F5F7"/>
                    </a:solidFill>
                  </a:tcPr>
                </a:tc>
              </a:tr>
              <a:tr h="609600">
                <a:tc>
                  <a:txBody>
                    <a:bodyPr/>
                    <a:lstStyle/>
                    <a:p>
                      <a:r>
                        <a:rPr sz="1875" b="0">
                          <a:solidFill>
                            <a:srgbClr val="192D3B"/>
                          </a:solidFill>
                        </a:rPr>
                        <a:t>Eligible records</a:t>
                      </a:r>
                    </a:p>
                  </a:txBody>
                  <a:tcPr marL="91440" marR="91440" marT="45720" marB="45720">
                    <a:solidFill>
                      <a:srgbClr val="FFFFFF"/>
                    </a:solidFill>
                  </a:tcPr>
                </a:tc>
                <a:tc>
                  <a:txBody>
                    <a:bodyPr/>
                    <a:lstStyle/>
                    <a:p>
                      <a:r>
                        <a:rPr sz="1875" b="0">
                          <a:solidFill>
                            <a:srgbClr val="192D3B"/>
                          </a:solidFill>
                        </a:rPr>
                        <a:t>1.51 million</a:t>
                      </a:r>
                    </a:p>
                  </a:txBody>
                  <a:tcPr marL="91440" marR="91440" marT="45720" marB="45720">
                    <a:solidFill>
                      <a:srgbClr val="FFFFFF"/>
                    </a:solidFill>
                  </a:tcPr>
                </a:tc>
              </a:tr>
              <a:tr h="609600">
                <a:tc>
                  <a:txBody>
                    <a:bodyPr/>
                    <a:lstStyle/>
                    <a:p>
                      <a:r>
                        <a:rPr sz="1875" b="0">
                          <a:solidFill>
                            <a:srgbClr val="192D3B"/>
                          </a:solidFill>
                        </a:rPr>
                        <a:t>Training task definitions</a:t>
                      </a:r>
                    </a:p>
                  </a:txBody>
                  <a:tcPr marL="91440" marR="91440" marT="45720" marB="45720">
                    <a:solidFill>
                      <a:srgbClr val="F1F5F7"/>
                    </a:solidFill>
                  </a:tcPr>
                </a:tc>
                <a:tc>
                  <a:txBody>
                    <a:bodyPr/>
                    <a:lstStyle/>
                    <a:p>
                      <a:r>
                        <a:rPr sz="1875" b="0">
                          <a:solidFill>
                            <a:srgbClr val="192D3B"/>
                          </a:solidFill>
                        </a:rPr>
                        <a:t>467,618</a:t>
                      </a:r>
                    </a:p>
                  </a:txBody>
                  <a:tcPr marL="91440" marR="91440" marT="45720" marB="45720">
                    <a:solidFill>
                      <a:srgbClr val="F1F5F7"/>
                    </a:solidFill>
                  </a:tcPr>
                </a:tc>
              </a:tr>
              <a:tr h="609600">
                <a:tc>
                  <a:txBody>
                    <a:bodyPr/>
                    <a:lstStyle/>
                    <a:p>
                      <a:r>
                        <a:rPr sz="1875" b="0">
                          <a:solidFill>
                            <a:srgbClr val="192D3B"/>
                          </a:solidFill>
                        </a:rPr>
                        <a:t>Training tasks observed once</a:t>
                      </a:r>
                    </a:p>
                  </a:txBody>
                  <a:tcPr marL="91440" marR="91440" marT="45720" marB="45720">
                    <a:solidFill>
                      <a:srgbClr val="FFFFFF"/>
                    </a:solidFill>
                  </a:tcPr>
                </a:tc>
                <a:tc>
                  <a:txBody>
                    <a:bodyPr/>
                    <a:lstStyle/>
                    <a:p>
                      <a:r>
                        <a:rPr sz="1875" b="0">
                          <a:solidFill>
                            <a:srgbClr val="192D3B"/>
                          </a:solidFill>
                        </a:rPr>
                        <a:t>96.8%</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0E936C0-A47C-4C58-B7DC-93C718407F72}"/>
              </a:ext>
            </a:extLst>
          </p:cNvPr>
          <p:cNvSpPr>
            <a:spLocks xmlns:a="http://schemas.openxmlformats.org/drawingml/2006/main" noGrp="1"/>
          </p:cNvSpPr>
          <p:nvPr/>
        </p:nvSpPr>
        <p:spPr>
          <a:xfrm xmlns:a="http://schemas.openxmlformats.org/drawingml/2006/main">
            <a:off x="666750" y="5238750"/>
            <a:ext cx="1071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7F86"/>
                </a:solidFill>
              </a:defRPr>
            </a:defPPr>
            <a:lvl1pPr>
              <a:defRPr sz="2175" b="1">
                <a:solidFill>
                  <a:srgbClr val="007F86"/>
                </a:solidFill>
              </a:defRPr>
            </a:lvl1pPr>
            <a:lvl2pPr>
              <a:defRPr sz="2175" b="1">
                <a:solidFill>
                  <a:srgbClr val="007F86"/>
                </a:solidFill>
              </a:defRPr>
            </a:lvl2pPr>
            <a:lvl3pPr>
              <a:defRPr sz="2175" b="1">
                <a:solidFill>
                  <a:srgbClr val="007F86"/>
                </a:solidFill>
              </a:defRPr>
            </a:lvl3pPr>
            <a:lvl4pPr>
              <a:defRPr sz="2175" b="1">
                <a:solidFill>
                  <a:srgbClr val="007F86"/>
                </a:solidFill>
              </a:defRPr>
            </a:lvl4pPr>
            <a:lvl5pPr>
              <a:defRPr sz="2175" b="1">
                <a:solidFill>
                  <a:srgbClr val="007F86"/>
                </a:solidFill>
              </a:defRPr>
            </a:lvl5pPr>
            <a:lvl6pPr>
              <a:defRPr sz="2175" b="1">
                <a:solidFill>
                  <a:srgbClr val="007F86"/>
                </a:solidFill>
              </a:defRPr>
            </a:lvl6pPr>
            <a:lvl7pPr>
              <a:defRPr sz="2175" b="1">
                <a:solidFill>
                  <a:srgbClr val="007F86"/>
                </a:solidFill>
              </a:defRPr>
            </a:lvl7pPr>
            <a:lvl8pPr>
              <a:defRPr sz="2175" b="1">
                <a:solidFill>
                  <a:srgbClr val="007F86"/>
                </a:solidFill>
              </a:defRPr>
            </a:lvl8pPr>
            <a:lvl9pPr>
              <a:defRPr sz="2175" b="1">
                <a:solidFill>
                  <a:srgbClr val="007F86"/>
                </a:solidFill>
              </a:defRPr>
            </a:lvl9pPr>
          </a:lstStyle>
          <a:p xmlns:a="http://schemas.openxmlformats.org/drawingml/2006/main">
            <a:pPr>
              <a:defRPr sz="2175" b="1">
                <a:solidFill>
                  <a:srgbClr val="007F86"/>
                </a:solidFill>
              </a:defRPr>
            </a:pPr>
            <a:r>
              <a:rPr sz="2175" b="1">
                <a:solidFill>
                  <a:srgbClr val="007F86"/>
                </a:solidFill>
              </a:rPr>
              <a:t>Target: elapsed calendar days, including potential waiting time</a:t>
            </a:r>
          </a:p>
        </p:txBody>
      </p:sp>
    </p:spTree>
    <p:extLst>
      <p:ext uri="{BB962C8B-B14F-4D97-AF65-F5344CB8AC3E}">
        <p14:creationId xmlns:p14="http://schemas.microsoft.com/office/powerpoint/2010/main" val="6833490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D458CC2-A809-43E6-A35F-1A6C7ABBB313}"/>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Four notebooks and a chronological comparison</a:t>
            </a:r>
          </a:p>
        </p:txBody>
      </p:sp>
      <p:sp>
        <p:nvSpPr>
          <p:cNvPr id="3" name="">
            <a:extLst xmlns:a="http://schemas.openxmlformats.org/drawingml/2006/main">
              <a:ext uri="{FF2B5EF4-FFF2-40B4-BE49-F238E27FC236}">
                <a16:creationId xmlns:a16="http://schemas.microsoft.com/office/drawing/2014/main" id="{FAAB250A-F731-40B1-87EF-6EE55E98A176}"/>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04</a:t>
            </a:r>
          </a:p>
        </p:txBody>
      </p:sp>
      <p:graphicFrame>
        <p:nvGraphicFramePr>
          <p:cNvPr id="4" name="">
            <a:extLst xmlns:a="http://schemas.openxmlformats.org/drawingml/2006/main">
              <a:ext uri="{FF2B5EF4-FFF2-40B4-BE49-F238E27FC236}">
                <a16:creationId xmlns:a16="http://schemas.microsoft.com/office/drawing/2014/main" id="{CD2B8B08-551D-4D5D-B791-6D93F2FA3317}"/>
              </a:ext>
            </a:extLst>
          </p:cNvPr>
          <p:cNvGraphicFramePr/>
          <p:nvPr/>
        </p:nvGraphicFramePr>
        <p:xfrm>
          <a:off xmlns:a="http://schemas.openxmlformats.org/drawingml/2006/main" x="666750" y="1666875"/>
          <a:ext xmlns:a="http://schemas.openxmlformats.org/drawingml/2006/main" cx="10858500" cy="3048000"/>
        </p:xfrm>
        <a:graphic xmlns:a="http://schemas.openxmlformats.org/drawingml/2006/main">
          <a:graphicData uri="http://schemas.openxmlformats.org/drawingml/2006/table">
            <a:tbl>
              <a:tblPr/>
              <a:tblGrid>
                <a:gridCol w="3429000"/>
                <a:gridCol w="7429500"/>
              </a:tblGrid>
              <a:tr h="609600">
                <a:tc>
                  <a:txBody>
                    <a:bodyPr/>
                    <a:lstStyle/>
                    <a:p>
                      <a:r>
                        <a:rPr sz="1875" b="1">
                          <a:solidFill>
                            <a:srgbClr val="FFFFFF"/>
                          </a:solidFill>
                        </a:rPr>
                        <a:t>Notebook</a:t>
                      </a:r>
                    </a:p>
                  </a:txBody>
                  <a:tcPr marL="91440" marR="91440" marT="45720" marB="45720">
                    <a:solidFill>
                      <a:srgbClr val="142D42"/>
                    </a:solidFill>
                  </a:tcPr>
                </a:tc>
                <a:tc>
                  <a:txBody>
                    <a:bodyPr/>
                    <a:lstStyle/>
                    <a:p>
                      <a:r>
                        <a:rPr sz="1875" b="1">
                          <a:solidFill>
                            <a:srgbClr val="FFFFFF"/>
                          </a:solidFill>
                        </a:rPr>
                        <a:t>Purpose</a:t>
                      </a:r>
                    </a:p>
                  </a:txBody>
                  <a:tcPr marL="91440" marR="91440" marT="45720" marB="45720">
                    <a:solidFill>
                      <a:srgbClr val="142D42"/>
                    </a:solidFill>
                  </a:tcPr>
                </a:tc>
              </a:tr>
              <a:tr h="609600">
                <a:tc>
                  <a:txBody>
                    <a:bodyPr/>
                    <a:lstStyle/>
                    <a:p>
                      <a:r>
                        <a:rPr sz="1875" b="0">
                          <a:solidFill>
                            <a:srgbClr val="192D3B"/>
                          </a:solidFill>
                        </a:rPr>
                        <a:t>Exploration</a:t>
                      </a:r>
                    </a:p>
                  </a:txBody>
                  <a:tcPr marL="91440" marR="91440" marT="45720" marB="45720">
                    <a:solidFill>
                      <a:srgbClr val="F1F5F7"/>
                    </a:solidFill>
                  </a:tcPr>
                </a:tc>
                <a:tc>
                  <a:txBody>
                    <a:bodyPr/>
                    <a:lstStyle/>
                    <a:p>
                      <a:r>
                        <a:rPr sz="1875" b="0">
                          <a:solidFill>
                            <a:srgbClr val="192D3B"/>
                          </a:solidFill>
                        </a:rPr>
                        <a:t>Audit records and prepare datasets</a:t>
                      </a:r>
                    </a:p>
                  </a:txBody>
                  <a:tcPr marL="91440" marR="91440" marT="45720" marB="45720">
                    <a:solidFill>
                      <a:srgbClr val="F1F5F7"/>
                    </a:solidFill>
                  </a:tcPr>
                </a:tc>
              </a:tr>
              <a:tr h="609600">
                <a:tc>
                  <a:txBody>
                    <a:bodyPr/>
                    <a:lstStyle/>
                    <a:p>
                      <a:r>
                        <a:rPr sz="1875" b="0">
                          <a:solidFill>
                            <a:srgbClr val="192D3B"/>
                          </a:solidFill>
                        </a:rPr>
                        <a:t>Embedding</a:t>
                      </a:r>
                    </a:p>
                  </a:txBody>
                  <a:tcPr marL="91440" marR="91440" marT="45720" marB="45720">
                    <a:solidFill>
                      <a:srgbClr val="FFFFFF"/>
                    </a:solidFill>
                  </a:tcPr>
                </a:tc>
                <a:tc>
                  <a:txBody>
                    <a:bodyPr/>
                    <a:lstStyle/>
                    <a:p>
                      <a:r>
                        <a:rPr sz="1875" b="0">
                          <a:solidFill>
                            <a:srgbClr val="192D3B"/>
                          </a:solidFill>
                        </a:rPr>
                        <a:t>Represent descriptions numerically</a:t>
                      </a:r>
                    </a:p>
                  </a:txBody>
                  <a:tcPr marL="91440" marR="91440" marT="45720" marB="45720">
                    <a:solidFill>
                      <a:srgbClr val="FFFFFF"/>
                    </a:solidFill>
                  </a:tcPr>
                </a:tc>
              </a:tr>
              <a:tr h="609600">
                <a:tc>
                  <a:txBody>
                    <a:bodyPr/>
                    <a:lstStyle/>
                    <a:p>
                      <a:r>
                        <a:rPr sz="1875" b="0">
                          <a:solidFill>
                            <a:srgbClr val="192D3B"/>
                          </a:solidFill>
                        </a:rPr>
                        <a:t>Clustering</a:t>
                      </a:r>
                    </a:p>
                  </a:txBody>
                  <a:tcPr marL="91440" marR="91440" marT="45720" marB="45720">
                    <a:solidFill>
                      <a:srgbClr val="F1F5F7"/>
                    </a:solidFill>
                  </a:tcPr>
                </a:tc>
                <a:tc>
                  <a:txBody>
                    <a:bodyPr/>
                    <a:lstStyle/>
                    <a:p>
                      <a:r>
                        <a:rPr sz="1875" b="0">
                          <a:solidFill>
                            <a:srgbClr val="192D3B"/>
                          </a:solidFill>
                        </a:rPr>
                        <a:t>Compare candidate work families</a:t>
                      </a:r>
                    </a:p>
                  </a:txBody>
                  <a:tcPr marL="91440" marR="91440" marT="45720" marB="45720">
                    <a:solidFill>
                      <a:srgbClr val="F1F5F7"/>
                    </a:solidFill>
                  </a:tcPr>
                </a:tc>
              </a:tr>
              <a:tr h="609600">
                <a:tc>
                  <a:txBody>
                    <a:bodyPr/>
                    <a:lstStyle/>
                    <a:p>
                      <a:r>
                        <a:rPr sz="1875" b="0">
                          <a:solidFill>
                            <a:srgbClr val="192D3B"/>
                          </a:solidFill>
                        </a:rPr>
                        <a:t>Modeling</a:t>
                      </a:r>
                    </a:p>
                  </a:txBody>
                  <a:tcPr marL="91440" marR="91440" marT="45720" marB="45720">
                    <a:solidFill>
                      <a:srgbClr val="FFFFFF"/>
                    </a:solidFill>
                  </a:tcPr>
                </a:tc>
                <a:tc>
                  <a:txBody>
                    <a:bodyPr/>
                    <a:lstStyle/>
                    <a:p>
                      <a:r>
                        <a:rPr sz="1875" b="0">
                          <a:solidFill>
                            <a:srgbClr val="192D3B"/>
                          </a:solidFill>
                        </a:rPr>
                        <a:t>Test predictive value against baselines</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D8F65C3-83D6-4ACE-B71F-F2BDC054BDA6}"/>
              </a:ext>
            </a:extLst>
          </p:cNvPr>
          <p:cNvSpPr>
            <a:spLocks xmlns:a="http://schemas.openxmlformats.org/drawingml/2006/main" noGrp="1"/>
          </p:cNvSpPr>
          <p:nvPr/>
        </p:nvSpPr>
        <p:spPr>
          <a:xfrm xmlns:a="http://schemas.openxmlformats.org/drawingml/2006/main">
            <a:off x="666750" y="5238750"/>
            <a:ext cx="10810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F86"/>
                </a:solidFill>
              </a:defRPr>
            </a:defPPr>
            <a:lvl1pPr>
              <a:defRPr sz="2025" b="1">
                <a:solidFill>
                  <a:srgbClr val="007F86"/>
                </a:solidFill>
              </a:defRPr>
            </a:lvl1pPr>
            <a:lvl2pPr>
              <a:defRPr sz="2025" b="1">
                <a:solidFill>
                  <a:srgbClr val="007F86"/>
                </a:solidFill>
              </a:defRPr>
            </a:lvl2pPr>
            <a:lvl3pPr>
              <a:defRPr sz="2025" b="1">
                <a:solidFill>
                  <a:srgbClr val="007F86"/>
                </a:solidFill>
              </a:defRPr>
            </a:lvl3pPr>
            <a:lvl4pPr>
              <a:defRPr sz="2025" b="1">
                <a:solidFill>
                  <a:srgbClr val="007F86"/>
                </a:solidFill>
              </a:defRPr>
            </a:lvl4pPr>
            <a:lvl5pPr>
              <a:defRPr sz="2025" b="1">
                <a:solidFill>
                  <a:srgbClr val="007F86"/>
                </a:solidFill>
              </a:defRPr>
            </a:lvl5pPr>
            <a:lvl6pPr>
              <a:defRPr sz="2025" b="1">
                <a:solidFill>
                  <a:srgbClr val="007F86"/>
                </a:solidFill>
              </a:defRPr>
            </a:lvl6pPr>
            <a:lvl7pPr>
              <a:defRPr sz="2025" b="1">
                <a:solidFill>
                  <a:srgbClr val="007F86"/>
                </a:solidFill>
              </a:defRPr>
            </a:lvl7pPr>
            <a:lvl8pPr>
              <a:defRPr sz="2025" b="1">
                <a:solidFill>
                  <a:srgbClr val="007F86"/>
                </a:solidFill>
              </a:defRPr>
            </a:lvl8pPr>
            <a:lvl9pPr>
              <a:defRPr sz="2025" b="1">
                <a:solidFill>
                  <a:srgbClr val="007F86"/>
                </a:solidFill>
              </a:defRPr>
            </a:lvl9pPr>
          </a:lstStyle>
          <a:p xmlns:a="http://schemas.openxmlformats.org/drawingml/2006/main">
            <a:pPr>
              <a:defRPr sz="2025" b="1">
                <a:solidFill>
                  <a:srgbClr val="007F86"/>
                </a:solidFill>
              </a:defRPr>
            </a:pPr>
            <a:r>
              <a:rPr sz="2025" b="1">
                <a:solidFill>
                  <a:srgbClr val="007F86"/>
                </a:solidFill>
              </a:rPr>
              <a:t>Fit on training only</a:t>
            </a:r>
          </a:p>
          <a:p xmlns:a="http://schemas.openxmlformats.org/drawingml/2006/main">
            <a:pPr>
              <a:defRPr sz="2025" b="1">
                <a:solidFill>
                  <a:srgbClr val="007F86"/>
                </a:solidFill>
              </a:defRPr>
            </a:pPr>
            <a:r>
              <a:rPr sz="2025" b="1">
                <a:solidFill>
                  <a:srgbClr val="007F86"/>
                </a:solidFill>
              </a:rPr>
              <a:t>25,000 training / 10,000 validation orders. Final test pending.</a:t>
            </a:r>
          </a:p>
        </p:txBody>
      </p:sp>
    </p:spTree>
    <p:extLst>
      <p:ext uri="{BB962C8B-B14F-4D97-AF65-F5344CB8AC3E}">
        <p14:creationId xmlns:p14="http://schemas.microsoft.com/office/powerpoint/2010/main" val="80305283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0AAE59-5570-4BEE-B6A5-E404B0CA87D1}"/>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Clustering found structure, with caveats</a:t>
            </a:r>
          </a:p>
        </p:txBody>
      </p:sp>
      <p:sp>
        <p:nvSpPr>
          <p:cNvPr id="3" name="">
            <a:extLst xmlns:a="http://schemas.openxmlformats.org/drawingml/2006/main">
              <a:ext uri="{FF2B5EF4-FFF2-40B4-BE49-F238E27FC236}">
                <a16:creationId xmlns:a16="http://schemas.microsoft.com/office/drawing/2014/main" id="{D6C33D19-D22B-4368-8827-D6C800A8A3C6}"/>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05</a:t>
            </a:r>
          </a:p>
        </p:txBody>
      </p:sp>
      <p:graphicFrame>
        <p:nvGraphicFramePr>
          <p:cNvPr id="4" name="">
            <a:extLst xmlns:a="http://schemas.openxmlformats.org/drawingml/2006/main">
              <a:ext uri="{FF2B5EF4-FFF2-40B4-BE49-F238E27FC236}">
                <a16:creationId xmlns:a16="http://schemas.microsoft.com/office/drawing/2014/main" id="{81FC4930-01C0-418E-9C2E-17FF95A3BBFB}"/>
              </a:ext>
            </a:extLst>
          </p:cNvPr>
          <p:cNvGraphicFramePr/>
          <p:nvPr/>
        </p:nvGraphicFramePr>
        <p:xfrm>
          <a:off xmlns:a="http://schemas.openxmlformats.org/drawingml/2006/main" x="666750" y="1619250"/>
          <a:ext xmlns:a="http://schemas.openxmlformats.org/drawingml/2006/main" cx="10858500" cy="3048000"/>
        </p:xfrm>
        <a:graphic xmlns:a="http://schemas.openxmlformats.org/drawingml/2006/main">
          <a:graphicData uri="http://schemas.openxmlformats.org/drawingml/2006/table">
            <a:tbl>
              <a:tblPr/>
              <a:tblGrid>
                <a:gridCol w="6667500"/>
                <a:gridCol w="2095500"/>
                <a:gridCol w="2095500"/>
              </a:tblGrid>
              <a:tr h="609600">
                <a:tc>
                  <a:txBody>
                    <a:bodyPr/>
                    <a:lstStyle/>
                    <a:p>
                      <a:r>
                        <a:rPr sz="1875" b="1">
                          <a:solidFill>
                            <a:srgbClr val="FFFFFF"/>
                          </a:solidFill>
                        </a:rPr>
                        <a:t>Representation</a:t>
                      </a:r>
                    </a:p>
                  </a:txBody>
                  <a:tcPr marL="91440" marR="91440" marT="45720" marB="45720">
                    <a:solidFill>
                      <a:srgbClr val="142D42"/>
                    </a:solidFill>
                  </a:tcPr>
                </a:tc>
                <a:tc>
                  <a:txBody>
                    <a:bodyPr/>
                    <a:lstStyle/>
                    <a:p>
                      <a:r>
                        <a:rPr sz="1875" b="1">
                          <a:solidFill>
                            <a:srgbClr val="FFFFFF"/>
                          </a:solidFill>
                        </a:rPr>
                        <a:t>Families</a:t>
                      </a:r>
                    </a:p>
                  </a:txBody>
                  <a:tcPr marL="91440" marR="91440" marT="45720" marB="45720">
                    <a:solidFill>
                      <a:srgbClr val="142D42"/>
                    </a:solidFill>
                  </a:tcPr>
                </a:tc>
                <a:tc>
                  <a:txBody>
                    <a:bodyPr/>
                    <a:lstStyle/>
                    <a:p>
                      <a:r>
                        <a:rPr sz="1875" b="1">
                          <a:solidFill>
                            <a:srgbClr val="FFFFFF"/>
                          </a:solidFill>
                        </a:rPr>
                        <a:t>Seed ARI</a:t>
                      </a:r>
                    </a:p>
                  </a:txBody>
                  <a:tcPr marL="91440" marR="91440" marT="45720" marB="45720">
                    <a:solidFill>
                      <a:srgbClr val="142D42"/>
                    </a:solidFill>
                  </a:tcPr>
                </a:tc>
              </a:tr>
              <a:tr h="609600">
                <a:tc>
                  <a:txBody>
                    <a:bodyPr/>
                    <a:lstStyle/>
                    <a:p>
                      <a:r>
                        <a:rPr sz="1875" b="0">
                          <a:solidFill>
                            <a:srgbClr val="192D3B"/>
                          </a:solidFill>
                        </a:rPr>
                        <a:t>Work description</a:t>
                      </a:r>
                    </a:p>
                  </a:txBody>
                  <a:tcPr marL="91440" marR="91440" marT="45720" marB="45720">
                    <a:solidFill>
                      <a:srgbClr val="F1F5F7"/>
                    </a:solidFill>
                  </a:tcPr>
                </a:tc>
                <a:tc>
                  <a:txBody>
                    <a:bodyPr/>
                    <a:lstStyle/>
                    <a:p>
                      <a:r>
                        <a:rPr sz="1875" b="0">
                          <a:solidFill>
                            <a:srgbClr val="192D3B"/>
                          </a:solidFill>
                        </a:rPr>
                        <a:t>32</a:t>
                      </a:r>
                    </a:p>
                  </a:txBody>
                  <a:tcPr marL="91440" marR="91440" marT="45720" marB="45720">
                    <a:solidFill>
                      <a:srgbClr val="F1F5F7"/>
                    </a:solidFill>
                  </a:tcPr>
                </a:tc>
                <a:tc>
                  <a:txBody>
                    <a:bodyPr/>
                    <a:lstStyle/>
                    <a:p>
                      <a:r>
                        <a:rPr sz="1875" b="0">
                          <a:solidFill>
                            <a:srgbClr val="192D3B"/>
                          </a:solidFill>
                        </a:rPr>
                        <a:t>0.508</a:t>
                      </a:r>
                    </a:p>
                  </a:txBody>
                  <a:tcPr marL="91440" marR="91440" marT="45720" marB="45720">
                    <a:solidFill>
                      <a:srgbClr val="F1F5F7"/>
                    </a:solidFill>
                  </a:tcPr>
                </a:tc>
              </a:tr>
              <a:tr h="609600">
                <a:tc>
                  <a:txBody>
                    <a:bodyPr/>
                    <a:lstStyle/>
                    <a:p>
                      <a:r>
                        <a:rPr sz="1875" b="0">
                          <a:solidFill>
                            <a:srgbClr val="192D3B"/>
                          </a:solidFill>
                        </a:rPr>
                        <a:t>Work + classification text</a:t>
                      </a:r>
                    </a:p>
                  </a:txBody>
                  <a:tcPr marL="91440" marR="91440" marT="45720" marB="45720">
                    <a:solidFill>
                      <a:srgbClr val="FFFFFF"/>
                    </a:solidFill>
                  </a:tcPr>
                </a:tc>
                <a:tc>
                  <a:txBody>
                    <a:bodyPr/>
                    <a:lstStyle/>
                    <a:p>
                      <a:r>
                        <a:rPr sz="1875" b="0">
                          <a:solidFill>
                            <a:srgbClr val="192D3B"/>
                          </a:solidFill>
                        </a:rPr>
                        <a:t>32</a:t>
                      </a:r>
                    </a:p>
                  </a:txBody>
                  <a:tcPr marL="91440" marR="91440" marT="45720" marB="45720">
                    <a:solidFill>
                      <a:srgbClr val="FFFFFF"/>
                    </a:solidFill>
                  </a:tcPr>
                </a:tc>
                <a:tc>
                  <a:txBody>
                    <a:bodyPr/>
                    <a:lstStyle/>
                    <a:p>
                      <a:r>
                        <a:rPr sz="1875" b="0">
                          <a:solidFill>
                            <a:srgbClr val="192D3B"/>
                          </a:solidFill>
                        </a:rPr>
                        <a:t>0.854</a:t>
                      </a:r>
                    </a:p>
                  </a:txBody>
                  <a:tcPr marL="91440" marR="91440" marT="45720" marB="45720">
                    <a:solidFill>
                      <a:srgbClr val="FFFFFF"/>
                    </a:solidFill>
                  </a:tcPr>
                </a:tc>
              </a:tr>
              <a:tr h="609600">
                <a:tc>
                  <a:txBody>
                    <a:bodyPr/>
                    <a:lstStyle/>
                    <a:p>
                      <a:r>
                        <a:rPr sz="1875" b="0">
                          <a:solidFill>
                            <a:srgbClr val="192D3B"/>
                          </a:solidFill>
                        </a:rPr>
                        <a:t>Aggregate task profiles</a:t>
                      </a:r>
                    </a:p>
                  </a:txBody>
                  <a:tcPr marL="91440" marR="91440" marT="45720" marB="45720">
                    <a:solidFill>
                      <a:srgbClr val="F1F5F7"/>
                    </a:solidFill>
                  </a:tcPr>
                </a:tc>
                <a:tc>
                  <a:txBody>
                    <a:bodyPr/>
                    <a:lstStyle/>
                    <a:p>
                      <a:r>
                        <a:rPr sz="1875" b="0">
                          <a:solidFill>
                            <a:srgbClr val="192D3B"/>
                          </a:solidFill>
                        </a:rPr>
                        <a:t>16</a:t>
                      </a:r>
                    </a:p>
                  </a:txBody>
                  <a:tcPr marL="91440" marR="91440" marT="45720" marB="45720">
                    <a:solidFill>
                      <a:srgbClr val="F1F5F7"/>
                    </a:solidFill>
                  </a:tcPr>
                </a:tc>
                <a:tc>
                  <a:txBody>
                    <a:bodyPr/>
                    <a:lstStyle/>
                    <a:p>
                      <a:r>
                        <a:rPr sz="1875" b="0">
                          <a:solidFill>
                            <a:srgbClr val="192D3B"/>
                          </a:solidFill>
                        </a:rPr>
                        <a:t>0.979</a:t>
                      </a:r>
                    </a:p>
                  </a:txBody>
                  <a:tcPr marL="91440" marR="91440" marT="45720" marB="45720">
                    <a:solidFill>
                      <a:srgbClr val="F1F5F7"/>
                    </a:solidFill>
                  </a:tcPr>
                </a:tc>
              </a:tr>
              <a:tr h="609600">
                <a:tc>
                  <a:txBody>
                    <a:bodyPr/>
                    <a:lstStyle/>
                    <a:p>
                      <a:r>
                        <a:rPr sz="1875" b="0">
                          <a:solidFill>
                            <a:srgbClr val="192D3B"/>
                          </a:solidFill>
                        </a:rPr>
                        <a:t>Combined context + aggregates</a:t>
                      </a:r>
                    </a:p>
                  </a:txBody>
                  <a:tcPr marL="91440" marR="91440" marT="45720" marB="45720">
                    <a:solidFill>
                      <a:srgbClr val="FFFFFF"/>
                    </a:solidFill>
                  </a:tcPr>
                </a:tc>
                <a:tc>
                  <a:txBody>
                    <a:bodyPr/>
                    <a:lstStyle/>
                    <a:p>
                      <a:r>
                        <a:rPr sz="1875" b="0">
                          <a:solidFill>
                            <a:srgbClr val="192D3B"/>
                          </a:solidFill>
                        </a:rPr>
                        <a:t>32</a:t>
                      </a:r>
                    </a:p>
                  </a:txBody>
                  <a:tcPr marL="91440" marR="91440" marT="45720" marB="45720">
                    <a:solidFill>
                      <a:srgbClr val="FFFFFF"/>
                    </a:solidFill>
                  </a:tcPr>
                </a:tc>
                <a:tc>
                  <a:txBody>
                    <a:bodyPr/>
                    <a:lstStyle/>
                    <a:p>
                      <a:r>
                        <a:rPr sz="1875" b="0">
                          <a:solidFill>
                            <a:srgbClr val="192D3B"/>
                          </a:solidFill>
                        </a:rPr>
                        <a:t>0.595</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490B21D-19DB-4DA3-A7AD-FAF4E6ABDD6A}"/>
              </a:ext>
            </a:extLst>
          </p:cNvPr>
          <p:cNvSpPr>
            <a:spLocks xmlns:a="http://schemas.openxmlformats.org/drawingml/2006/main" noGrp="1"/>
          </p:cNvSpPr>
          <p:nvPr/>
        </p:nvSpPr>
        <p:spPr>
          <a:xfrm xmlns:a="http://schemas.openxmlformats.org/drawingml/2006/main">
            <a:off x="666750" y="52387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7F86"/>
                </a:solidFill>
              </a:defRPr>
            </a:defPPr>
            <a:lvl1pPr>
              <a:defRPr sz="2025" b="1">
                <a:solidFill>
                  <a:srgbClr val="007F86"/>
                </a:solidFill>
              </a:defRPr>
            </a:lvl1pPr>
            <a:lvl2pPr>
              <a:defRPr sz="2025" b="1">
                <a:solidFill>
                  <a:srgbClr val="007F86"/>
                </a:solidFill>
              </a:defRPr>
            </a:lvl2pPr>
            <a:lvl3pPr>
              <a:defRPr sz="2025" b="1">
                <a:solidFill>
                  <a:srgbClr val="007F86"/>
                </a:solidFill>
              </a:defRPr>
            </a:lvl3pPr>
            <a:lvl4pPr>
              <a:defRPr sz="2025" b="1">
                <a:solidFill>
                  <a:srgbClr val="007F86"/>
                </a:solidFill>
              </a:defRPr>
            </a:lvl4pPr>
            <a:lvl5pPr>
              <a:defRPr sz="2025" b="1">
                <a:solidFill>
                  <a:srgbClr val="007F86"/>
                </a:solidFill>
              </a:defRPr>
            </a:lvl5pPr>
            <a:lvl6pPr>
              <a:defRPr sz="2025" b="1">
                <a:solidFill>
                  <a:srgbClr val="007F86"/>
                </a:solidFill>
              </a:defRPr>
            </a:lvl6pPr>
            <a:lvl7pPr>
              <a:defRPr sz="2025" b="1">
                <a:solidFill>
                  <a:srgbClr val="007F86"/>
                </a:solidFill>
              </a:defRPr>
            </a:lvl7pPr>
            <a:lvl8pPr>
              <a:defRPr sz="2025" b="1">
                <a:solidFill>
                  <a:srgbClr val="007F86"/>
                </a:solidFill>
              </a:defRPr>
            </a:lvl8pPr>
            <a:lvl9pPr>
              <a:defRPr sz="2025" b="1">
                <a:solidFill>
                  <a:srgbClr val="007F86"/>
                </a:solidFill>
              </a:defRPr>
            </a:lvl9pPr>
          </a:lstStyle>
          <a:p xmlns:a="http://schemas.openxmlformats.org/drawingml/2006/main">
            <a:pPr>
              <a:defRPr sz="2025" b="1">
                <a:solidFill>
                  <a:srgbClr val="007F86"/>
                </a:solidFill>
              </a:defRPr>
            </a:pPr>
            <a:r>
              <a:rPr sz="2025" b="1">
                <a:solidFill>
                  <a:srgbClr val="007F86"/>
                </a:solidFill>
              </a:rPr>
              <a:t>Context tracks component classes. Aggregates also track missingness.</a:t>
            </a:r>
          </a:p>
          <a:p xmlns:a="http://schemas.openxmlformats.org/drawingml/2006/main">
            <a:pPr>
              <a:defRPr sz="2025" b="1">
                <a:solidFill>
                  <a:srgbClr val="007F86"/>
                </a:solidFill>
              </a:defRPr>
            </a:pPr>
            <a:r>
              <a:rPr sz="2025" b="1">
                <a:solidFill>
                  <a:srgbClr val="007F86"/>
                </a:solidFill>
              </a:rPr>
              <a:t>Stability alone does not establish a useful work family.</a:t>
            </a:r>
          </a:p>
        </p:txBody>
      </p:sp>
    </p:spTree>
    <p:extLst>
      <p:ext uri="{BB962C8B-B14F-4D97-AF65-F5344CB8AC3E}">
        <p14:creationId xmlns:p14="http://schemas.microsoft.com/office/powerpoint/2010/main" val="20097586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909FE41-BBDF-4B71-9DDA-3CD37FCEB3FA}"/>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The full model improved validation predictions</a:t>
            </a:r>
          </a:p>
        </p:txBody>
      </p:sp>
      <p:sp>
        <p:nvSpPr>
          <p:cNvPr id="3" name="">
            <a:extLst xmlns:a="http://schemas.openxmlformats.org/drawingml/2006/main">
              <a:ext uri="{FF2B5EF4-FFF2-40B4-BE49-F238E27FC236}">
                <a16:creationId xmlns:a16="http://schemas.microsoft.com/office/drawing/2014/main" id="{E808E3B3-71ED-48CE-85D6-0AFFE49CD7F4}"/>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06</a:t>
            </a:r>
          </a:p>
        </p:txBody>
      </p:sp>
      <p:graphicFrame>
        <p:nvGraphicFramePr>
          <p:cNvPr id="4" name="Chart">
            <a:extLst xmlns:a="http://schemas.openxmlformats.org/drawingml/2006/main">
              <a:ext uri="{FF2B5EF4-FFF2-40B4-BE49-F238E27FC236}">
                <a16:creationId xmlns:a16="http://schemas.microsoft.com/office/drawing/2014/main" id="{ABFDD3E3-9B16-4FA6-8E9D-35C88451F10A}"/>
              </a:ext>
            </a:extLst>
          </p:cNvPr>
          <p:cNvGraphicFramePr/>
          <p:nvPr/>
        </p:nvGraphicFramePr>
        <p:xfrm>
          <a:off xmlns:a="http://schemas.openxmlformats.org/drawingml/2006/main" x="619125" y="1571625"/>
          <a:ext xmlns:a="http://schemas.openxmlformats.org/drawingml/2006/main" cx="8096250" cy="4000500"/>
        </p:xfrm>
        <a:graphic xmlns:a="http://schemas.openxmlformats.org/drawingml/2006/main">
          <a:graphicData uri="http://schemas.openxmlformats.org/drawingml/2006/chart">
            <c:chart xmlns:r="http://schemas.openxmlformats.org/officeDocument/2006/relationships" xmlns:c="http://schemas.openxmlformats.org/drawingml/2006/chart" r:id="R8ef24909cb164ed4"/>
          </a:graphicData>
        </a:graphic>
      </p:graphicFrame>
      <p:sp>
        <p:nvSpPr>
          <p:cNvPr id="5" name="">
            <a:extLst xmlns:a="http://schemas.openxmlformats.org/drawingml/2006/main">
              <a:ext uri="{FF2B5EF4-FFF2-40B4-BE49-F238E27FC236}">
                <a16:creationId xmlns:a16="http://schemas.microsoft.com/office/drawing/2014/main" id="{05E9F0DD-8C48-4AA4-A2F4-D09B2769F32A}"/>
              </a:ext>
            </a:extLst>
          </p:cNvPr>
          <p:cNvSpPr>
            <a:spLocks xmlns:a="http://schemas.openxmlformats.org/drawingml/2006/main" noGrp="1"/>
          </p:cNvSpPr>
          <p:nvPr/>
        </p:nvSpPr>
        <p:spPr>
          <a:xfrm xmlns:a="http://schemas.openxmlformats.org/drawingml/2006/main">
            <a:off x="9096375" y="2238375"/>
            <a:ext cx="238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07F86"/>
                </a:solidFill>
              </a:defRPr>
            </a:defPPr>
            <a:lvl1pPr>
              <a:defRPr sz="4800" b="1">
                <a:solidFill>
                  <a:srgbClr val="007F86"/>
                </a:solidFill>
              </a:defRPr>
            </a:lvl1pPr>
            <a:lvl2pPr>
              <a:defRPr sz="4800" b="1">
                <a:solidFill>
                  <a:srgbClr val="007F86"/>
                </a:solidFill>
              </a:defRPr>
            </a:lvl2pPr>
            <a:lvl3pPr>
              <a:defRPr sz="4800" b="1">
                <a:solidFill>
                  <a:srgbClr val="007F86"/>
                </a:solidFill>
              </a:defRPr>
            </a:lvl3pPr>
            <a:lvl4pPr>
              <a:defRPr sz="4800" b="1">
                <a:solidFill>
                  <a:srgbClr val="007F86"/>
                </a:solidFill>
              </a:defRPr>
            </a:lvl4pPr>
            <a:lvl5pPr>
              <a:defRPr sz="4800" b="1">
                <a:solidFill>
                  <a:srgbClr val="007F86"/>
                </a:solidFill>
              </a:defRPr>
            </a:lvl5pPr>
            <a:lvl6pPr>
              <a:defRPr sz="4800" b="1">
                <a:solidFill>
                  <a:srgbClr val="007F86"/>
                </a:solidFill>
              </a:defRPr>
            </a:lvl6pPr>
            <a:lvl7pPr>
              <a:defRPr sz="4800" b="1">
                <a:solidFill>
                  <a:srgbClr val="007F86"/>
                </a:solidFill>
              </a:defRPr>
            </a:lvl7pPr>
            <a:lvl8pPr>
              <a:defRPr sz="4800" b="1">
                <a:solidFill>
                  <a:srgbClr val="007F86"/>
                </a:solidFill>
              </a:defRPr>
            </a:lvl8pPr>
            <a:lvl9pPr>
              <a:defRPr sz="4800" b="1">
                <a:solidFill>
                  <a:srgbClr val="007F86"/>
                </a:solidFill>
              </a:defRPr>
            </a:lvl9pPr>
          </a:lstStyle>
          <a:p xmlns:a="http://schemas.openxmlformats.org/drawingml/2006/main">
            <a:pPr>
              <a:defRPr sz="4800" b="1">
                <a:solidFill>
                  <a:srgbClr val="007F86"/>
                </a:solidFill>
              </a:defRPr>
            </a:pPr>
            <a:r>
              <a:rPr sz="4800" b="1">
                <a:solidFill>
                  <a:srgbClr val="007F86"/>
                </a:solidFill>
              </a:rPr>
              <a:t>0.4%</a:t>
            </a:r>
          </a:p>
        </p:txBody>
      </p:sp>
      <p:sp>
        <p:nvSpPr>
          <p:cNvPr id="6" name="">
            <a:extLst xmlns:a="http://schemas.openxmlformats.org/drawingml/2006/main">
              <a:ext uri="{FF2B5EF4-FFF2-40B4-BE49-F238E27FC236}">
                <a16:creationId xmlns:a16="http://schemas.microsoft.com/office/drawing/2014/main" id="{42696E99-F5B2-4EFC-928C-1B01E4089206}"/>
              </a:ext>
            </a:extLst>
          </p:cNvPr>
          <p:cNvSpPr>
            <a:spLocks xmlns:a="http://schemas.openxmlformats.org/drawingml/2006/main" noGrp="1"/>
          </p:cNvSpPr>
          <p:nvPr/>
        </p:nvSpPr>
        <p:spPr>
          <a:xfrm xmlns:a="http://schemas.openxmlformats.org/drawingml/2006/main">
            <a:off x="9096375" y="3238500"/>
            <a:ext cx="2428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D3B"/>
                </a:solidFill>
              </a:defRPr>
            </a:defPPr>
            <a:lvl1pPr>
              <a:defRPr sz="2025" b="0">
                <a:solidFill>
                  <a:srgbClr val="192D3B"/>
                </a:solidFill>
              </a:defRPr>
            </a:lvl1pPr>
            <a:lvl2pPr>
              <a:defRPr sz="2025" b="0">
                <a:solidFill>
                  <a:srgbClr val="192D3B"/>
                </a:solidFill>
              </a:defRPr>
            </a:lvl2pPr>
            <a:lvl3pPr>
              <a:defRPr sz="2025" b="0">
                <a:solidFill>
                  <a:srgbClr val="192D3B"/>
                </a:solidFill>
              </a:defRPr>
            </a:lvl3pPr>
            <a:lvl4pPr>
              <a:defRPr sz="2025" b="0">
                <a:solidFill>
                  <a:srgbClr val="192D3B"/>
                </a:solidFill>
              </a:defRPr>
            </a:lvl4pPr>
            <a:lvl5pPr>
              <a:defRPr sz="2025" b="0">
                <a:solidFill>
                  <a:srgbClr val="192D3B"/>
                </a:solidFill>
              </a:defRPr>
            </a:lvl5pPr>
            <a:lvl6pPr>
              <a:defRPr sz="2025" b="0">
                <a:solidFill>
                  <a:srgbClr val="192D3B"/>
                </a:solidFill>
              </a:defRPr>
            </a:lvl6pPr>
            <a:lvl7pPr>
              <a:defRPr sz="2025" b="0">
                <a:solidFill>
                  <a:srgbClr val="192D3B"/>
                </a:solidFill>
              </a:defRPr>
            </a:lvl7pPr>
            <a:lvl8pPr>
              <a:defRPr sz="2025" b="0">
                <a:solidFill>
                  <a:srgbClr val="192D3B"/>
                </a:solidFill>
              </a:defRPr>
            </a:lvl8pPr>
            <a:lvl9pPr>
              <a:defRPr sz="2025" b="0">
                <a:solidFill>
                  <a:srgbClr val="192D3B"/>
                </a:solidFill>
              </a:defRPr>
            </a:lvl9pPr>
          </a:lstStyle>
          <a:p xmlns:a="http://schemas.openxmlformats.org/drawingml/2006/main">
            <a:pPr>
              <a:defRPr sz="2025" b="0">
                <a:solidFill>
                  <a:srgbClr val="192D3B"/>
                </a:solidFill>
              </a:defRPr>
            </a:pPr>
            <a:r>
              <a:rPr sz="2025" b="0">
                <a:solidFill>
                  <a:srgbClr val="192D3B"/>
                </a:solidFill>
              </a:rPr>
              <a:t>MSE reduction</a:t>
            </a:r>
          </a:p>
          <a:p xmlns:a="http://schemas.openxmlformats.org/drawingml/2006/main">
            <a:pPr>
              <a:defRPr sz="2025" b="0">
                <a:solidFill>
                  <a:srgbClr val="192D3B"/>
                </a:solidFill>
              </a:defRPr>
            </a:pPr>
            <a:r>
              <a:rPr sz="2025" b="0">
                <a:solidFill>
                  <a:srgbClr val="192D3B"/>
                </a:solidFill>
              </a:rPr>
              <a:t>from adding family</a:t>
            </a:r>
          </a:p>
        </p:txBody>
      </p:sp>
      <p:sp>
        <p:nvSpPr>
          <p:cNvPr id="7" name="">
            <a:extLst xmlns:a="http://schemas.openxmlformats.org/drawingml/2006/main">
              <a:ext uri="{FF2B5EF4-FFF2-40B4-BE49-F238E27FC236}">
                <a16:creationId xmlns:a16="http://schemas.microsoft.com/office/drawing/2014/main" id="{72AB7F30-962A-48E1-9714-15172A6B2321}"/>
              </a:ext>
            </a:extLst>
          </p:cNvPr>
          <p:cNvSpPr>
            <a:spLocks xmlns:a="http://schemas.openxmlformats.org/drawingml/2006/main" noGrp="1"/>
          </p:cNvSpPr>
          <p:nvPr/>
        </p:nvSpPr>
        <p:spPr>
          <a:xfrm xmlns:a="http://schemas.openxmlformats.org/drawingml/2006/main">
            <a:off x="666750" y="5715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573"/>
                </a:solidFill>
              </a:defRPr>
            </a:defPPr>
            <a:lvl1pPr>
              <a:defRPr sz="1725" b="0">
                <a:solidFill>
                  <a:srgbClr val="536573"/>
                </a:solidFill>
              </a:defRPr>
            </a:lvl1pPr>
            <a:lvl2pPr>
              <a:defRPr sz="1725" b="0">
                <a:solidFill>
                  <a:srgbClr val="536573"/>
                </a:solidFill>
              </a:defRPr>
            </a:lvl2pPr>
            <a:lvl3pPr>
              <a:defRPr sz="1725" b="0">
                <a:solidFill>
                  <a:srgbClr val="536573"/>
                </a:solidFill>
              </a:defRPr>
            </a:lvl3pPr>
            <a:lvl4pPr>
              <a:defRPr sz="1725" b="0">
                <a:solidFill>
                  <a:srgbClr val="536573"/>
                </a:solidFill>
              </a:defRPr>
            </a:lvl4pPr>
            <a:lvl5pPr>
              <a:defRPr sz="1725" b="0">
                <a:solidFill>
                  <a:srgbClr val="536573"/>
                </a:solidFill>
              </a:defRPr>
            </a:lvl5pPr>
            <a:lvl6pPr>
              <a:defRPr sz="1725" b="0">
                <a:solidFill>
                  <a:srgbClr val="536573"/>
                </a:solidFill>
              </a:defRPr>
            </a:lvl6pPr>
            <a:lvl7pPr>
              <a:defRPr sz="1725" b="0">
                <a:solidFill>
                  <a:srgbClr val="536573"/>
                </a:solidFill>
              </a:defRPr>
            </a:lvl7pPr>
            <a:lvl8pPr>
              <a:defRPr sz="1725" b="0">
                <a:solidFill>
                  <a:srgbClr val="536573"/>
                </a:solidFill>
              </a:defRPr>
            </a:lvl8pPr>
            <a:lvl9pPr>
              <a:defRPr sz="1725" b="0">
                <a:solidFill>
                  <a:srgbClr val="536573"/>
                </a:solidFill>
              </a:defRPr>
            </a:lvl9pPr>
          </a:lstStyle>
          <a:p xmlns:a="http://schemas.openxmlformats.org/drawingml/2006/main">
            <a:pPr>
              <a:defRPr sz="1725" b="0">
                <a:solidFill>
                  <a:srgbClr val="536573"/>
                </a:solidFill>
              </a:defRPr>
            </a:pPr>
            <a:r>
              <a:rPr sz="1725" b="0">
                <a:solidFill>
                  <a:srgbClr val="536573"/>
                </a:solidFill>
              </a:rPr>
              <a:t>MSE in days², lower is better. Fitted comparisons shown use Extra Trees.</a:t>
            </a:r>
          </a:p>
        </p:txBody>
      </p:sp>
    </p:spTree>
    <p:extLst>
      <p:ext uri="{BB962C8B-B14F-4D97-AF65-F5344CB8AC3E}">
        <p14:creationId xmlns:p14="http://schemas.microsoft.com/office/powerpoint/2010/main" val="7967664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61310F-E4AB-462B-B2EA-57B4194A264E}"/>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Unseen work and long durations remain difficult</a:t>
            </a:r>
          </a:p>
        </p:txBody>
      </p:sp>
      <p:sp>
        <p:nvSpPr>
          <p:cNvPr id="3" name="">
            <a:extLst xmlns:a="http://schemas.openxmlformats.org/drawingml/2006/main">
              <a:ext uri="{FF2B5EF4-FFF2-40B4-BE49-F238E27FC236}">
                <a16:creationId xmlns:a16="http://schemas.microsoft.com/office/drawing/2014/main" id="{207F4353-A7D5-48C2-A7EB-D03CEAECB445}"/>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07</a:t>
            </a:r>
          </a:p>
        </p:txBody>
      </p:sp>
      <p:graphicFrame>
        <p:nvGraphicFramePr>
          <p:cNvPr id="4" name="">
            <a:extLst xmlns:a="http://schemas.openxmlformats.org/drawingml/2006/main">
              <a:ext uri="{FF2B5EF4-FFF2-40B4-BE49-F238E27FC236}">
                <a16:creationId xmlns:a16="http://schemas.microsoft.com/office/drawing/2014/main" id="{3AFB7E2E-717F-4245-9022-33BE4B3B4AE1}"/>
              </a:ext>
            </a:extLst>
          </p:cNvPr>
          <p:cNvGraphicFramePr/>
          <p:nvPr/>
        </p:nvGraphicFramePr>
        <p:xfrm>
          <a:off xmlns:a="http://schemas.openxmlformats.org/drawingml/2006/main" x="666750" y="1762125"/>
          <a:ext xmlns:a="http://schemas.openxmlformats.org/drawingml/2006/main" cx="10858500" cy="1828800"/>
        </p:xfrm>
        <a:graphic xmlns:a="http://schemas.openxmlformats.org/drawingml/2006/main">
          <a:graphicData uri="http://schemas.openxmlformats.org/drawingml/2006/table">
            <a:tbl>
              <a:tblPr/>
              <a:tblGrid>
                <a:gridCol w="6667500"/>
                <a:gridCol w="2095500"/>
                <a:gridCol w="2095500"/>
              </a:tblGrid>
              <a:tr h="609600">
                <a:tc>
                  <a:txBody>
                    <a:bodyPr/>
                    <a:lstStyle/>
                    <a:p>
                      <a:r>
                        <a:rPr sz="1875" b="1">
                          <a:solidFill>
                            <a:srgbClr val="FFFFFF"/>
                          </a:solidFill>
                        </a:rPr>
                        <a:t>Validation slice</a:t>
                      </a:r>
                    </a:p>
                  </a:txBody>
                  <a:tcPr marL="91440" marR="91440" marT="45720" marB="45720">
                    <a:solidFill>
                      <a:srgbClr val="142D42"/>
                    </a:solidFill>
                  </a:tcPr>
                </a:tc>
                <a:tc>
                  <a:txBody>
                    <a:bodyPr/>
                    <a:lstStyle/>
                    <a:p>
                      <a:r>
                        <a:rPr sz="1875" b="1">
                          <a:solidFill>
                            <a:srgbClr val="FFFFFF"/>
                          </a:solidFill>
                        </a:rPr>
                        <a:t>Orders</a:t>
                      </a:r>
                    </a:p>
                  </a:txBody>
                  <a:tcPr marL="91440" marR="91440" marT="45720" marB="45720">
                    <a:solidFill>
                      <a:srgbClr val="142D42"/>
                    </a:solidFill>
                  </a:tcPr>
                </a:tc>
                <a:tc>
                  <a:txBody>
                    <a:bodyPr/>
                    <a:lstStyle/>
                    <a:p>
                      <a:r>
                        <a:rPr sz="1875" b="1">
                          <a:solidFill>
                            <a:srgbClr val="FFFFFF"/>
                          </a:solidFill>
                        </a:rPr>
                        <a:t>R²</a:t>
                      </a:r>
                    </a:p>
                  </a:txBody>
                  <a:tcPr marL="91440" marR="91440" marT="45720" marB="45720">
                    <a:solidFill>
                      <a:srgbClr val="142D42"/>
                    </a:solidFill>
                  </a:tcPr>
                </a:tc>
              </a:tr>
              <a:tr h="609600">
                <a:tc>
                  <a:txBody>
                    <a:bodyPr/>
                    <a:lstStyle/>
                    <a:p>
                      <a:r>
                        <a:rPr sz="1875" b="0">
                          <a:solidFill>
                            <a:srgbClr val="192D3B"/>
                          </a:solidFill>
                        </a:rPr>
                        <a:t>Previously seen tasks</a:t>
                      </a:r>
                    </a:p>
                  </a:txBody>
                  <a:tcPr marL="91440" marR="91440" marT="45720" marB="45720">
                    <a:solidFill>
                      <a:srgbClr val="F1F5F7"/>
                    </a:solidFill>
                  </a:tcPr>
                </a:tc>
                <a:tc>
                  <a:txBody>
                    <a:bodyPr/>
                    <a:lstStyle/>
                    <a:p>
                      <a:r>
                        <a:rPr sz="1875" b="0">
                          <a:solidFill>
                            <a:srgbClr val="192D3B"/>
                          </a:solidFill>
                        </a:rPr>
                        <a:t>5,795</a:t>
                      </a:r>
                    </a:p>
                  </a:txBody>
                  <a:tcPr marL="91440" marR="91440" marT="45720" marB="45720">
                    <a:solidFill>
                      <a:srgbClr val="F1F5F7"/>
                    </a:solidFill>
                  </a:tcPr>
                </a:tc>
                <a:tc>
                  <a:txBody>
                    <a:bodyPr/>
                    <a:lstStyle/>
                    <a:p>
                      <a:r>
                        <a:rPr sz="1875" b="0">
                          <a:solidFill>
                            <a:srgbClr val="192D3B"/>
                          </a:solidFill>
                        </a:rPr>
                        <a:t>0.255</a:t>
                      </a:r>
                    </a:p>
                  </a:txBody>
                  <a:tcPr marL="91440" marR="91440" marT="45720" marB="45720">
                    <a:solidFill>
                      <a:srgbClr val="F1F5F7"/>
                    </a:solidFill>
                  </a:tcPr>
                </a:tc>
              </a:tr>
              <a:tr h="609600">
                <a:tc>
                  <a:txBody>
                    <a:bodyPr/>
                    <a:lstStyle/>
                    <a:p>
                      <a:r>
                        <a:rPr sz="1875" b="0">
                          <a:solidFill>
                            <a:srgbClr val="192D3B"/>
                          </a:solidFill>
                        </a:rPr>
                        <a:t>Previously unseen tasks</a:t>
                      </a:r>
                    </a:p>
                  </a:txBody>
                  <a:tcPr marL="91440" marR="91440" marT="45720" marB="45720">
                    <a:solidFill>
                      <a:srgbClr val="FFFFFF"/>
                    </a:solidFill>
                  </a:tcPr>
                </a:tc>
                <a:tc>
                  <a:txBody>
                    <a:bodyPr/>
                    <a:lstStyle/>
                    <a:p>
                      <a:r>
                        <a:rPr sz="1875" b="0">
                          <a:solidFill>
                            <a:srgbClr val="192D3B"/>
                          </a:solidFill>
                        </a:rPr>
                        <a:t>4,205</a:t>
                      </a:r>
                    </a:p>
                  </a:txBody>
                  <a:tcPr marL="91440" marR="91440" marT="45720" marB="45720">
                    <a:solidFill>
                      <a:srgbClr val="FFFFFF"/>
                    </a:solidFill>
                  </a:tcPr>
                </a:tc>
                <a:tc>
                  <a:txBody>
                    <a:bodyPr/>
                    <a:lstStyle/>
                    <a:p>
                      <a:r>
                        <a:rPr sz="1875" b="0">
                          <a:solidFill>
                            <a:srgbClr val="192D3B"/>
                          </a:solidFill>
                        </a:rPr>
                        <a:t>−0.032</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23DB12E-B86D-471D-B2B6-23DFC94FB5FC}"/>
              </a:ext>
            </a:extLst>
          </p:cNvPr>
          <p:cNvSpPr>
            <a:spLocks xmlns:a="http://schemas.openxmlformats.org/drawingml/2006/main" noGrp="1"/>
          </p:cNvSpPr>
          <p:nvPr/>
        </p:nvSpPr>
        <p:spPr>
          <a:xfrm xmlns:a="http://schemas.openxmlformats.org/drawingml/2006/main">
            <a:off x="666750" y="41910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007F86"/>
                </a:solidFill>
              </a:defRPr>
            </a:defPPr>
            <a:lvl1pPr>
              <a:defRPr sz="2475" b="1">
                <a:solidFill>
                  <a:srgbClr val="007F86"/>
                </a:solidFill>
              </a:defRPr>
            </a:lvl1pPr>
            <a:lvl2pPr>
              <a:defRPr sz="2475" b="1">
                <a:solidFill>
                  <a:srgbClr val="007F86"/>
                </a:solidFill>
              </a:defRPr>
            </a:lvl2pPr>
            <a:lvl3pPr>
              <a:defRPr sz="2475" b="1">
                <a:solidFill>
                  <a:srgbClr val="007F86"/>
                </a:solidFill>
              </a:defRPr>
            </a:lvl3pPr>
            <a:lvl4pPr>
              <a:defRPr sz="2475" b="1">
                <a:solidFill>
                  <a:srgbClr val="007F86"/>
                </a:solidFill>
              </a:defRPr>
            </a:lvl4pPr>
            <a:lvl5pPr>
              <a:defRPr sz="2475" b="1">
                <a:solidFill>
                  <a:srgbClr val="007F86"/>
                </a:solidFill>
              </a:defRPr>
            </a:lvl5pPr>
            <a:lvl6pPr>
              <a:defRPr sz="2475" b="1">
                <a:solidFill>
                  <a:srgbClr val="007F86"/>
                </a:solidFill>
              </a:defRPr>
            </a:lvl6pPr>
            <a:lvl7pPr>
              <a:defRPr sz="2475" b="1">
                <a:solidFill>
                  <a:srgbClr val="007F86"/>
                </a:solidFill>
              </a:defRPr>
            </a:lvl7pPr>
            <a:lvl8pPr>
              <a:defRPr sz="2475" b="1">
                <a:solidFill>
                  <a:srgbClr val="007F86"/>
                </a:solidFill>
              </a:defRPr>
            </a:lvl8pPr>
            <a:lvl9pPr>
              <a:defRPr sz="2475" b="1">
                <a:solidFill>
                  <a:srgbClr val="007F86"/>
                </a:solidFill>
              </a:defRPr>
            </a:lvl9pPr>
          </a:lstStyle>
          <a:p xmlns:a="http://schemas.openxmlformats.org/drawingml/2006/main">
            <a:pPr>
              <a:defRPr sz="2475" b="1">
                <a:solidFill>
                  <a:srgbClr val="007F86"/>
                </a:solidFill>
              </a:defRPr>
            </a:pPr>
            <a:r>
              <a:rPr sz="2475" b="1">
                <a:solidFill>
                  <a:srgbClr val="007F86"/>
                </a:solidFill>
              </a:rPr>
              <a:t>Orders lasting at least 61 days contributed 62.8% of squared error</a:t>
            </a:r>
          </a:p>
        </p:txBody>
      </p:sp>
      <p:sp>
        <p:nvSpPr>
          <p:cNvPr id="6" name="">
            <a:extLst xmlns:a="http://schemas.openxmlformats.org/drawingml/2006/main">
              <a:ext uri="{FF2B5EF4-FFF2-40B4-BE49-F238E27FC236}">
                <a16:creationId xmlns:a16="http://schemas.microsoft.com/office/drawing/2014/main" id="{0C35F4A6-3772-465E-B83D-173845049587}"/>
              </a:ext>
            </a:extLst>
          </p:cNvPr>
          <p:cNvSpPr>
            <a:spLocks xmlns:a="http://schemas.openxmlformats.org/drawingml/2006/main" noGrp="1"/>
          </p:cNvSpPr>
          <p:nvPr/>
        </p:nvSpPr>
        <p:spPr>
          <a:xfrm xmlns:a="http://schemas.openxmlformats.org/drawingml/2006/main">
            <a:off x="666750" y="5286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2D3B"/>
                </a:solidFill>
              </a:defRPr>
            </a:defPPr>
            <a:lvl1pPr>
              <a:defRPr sz="2025" b="0">
                <a:solidFill>
                  <a:srgbClr val="192D3B"/>
                </a:solidFill>
              </a:defRPr>
            </a:lvl1pPr>
            <a:lvl2pPr>
              <a:defRPr sz="2025" b="0">
                <a:solidFill>
                  <a:srgbClr val="192D3B"/>
                </a:solidFill>
              </a:defRPr>
            </a:lvl2pPr>
            <a:lvl3pPr>
              <a:defRPr sz="2025" b="0">
                <a:solidFill>
                  <a:srgbClr val="192D3B"/>
                </a:solidFill>
              </a:defRPr>
            </a:lvl3pPr>
            <a:lvl4pPr>
              <a:defRPr sz="2025" b="0">
                <a:solidFill>
                  <a:srgbClr val="192D3B"/>
                </a:solidFill>
              </a:defRPr>
            </a:lvl4pPr>
            <a:lvl5pPr>
              <a:defRPr sz="2025" b="0">
                <a:solidFill>
                  <a:srgbClr val="192D3B"/>
                </a:solidFill>
              </a:defRPr>
            </a:lvl5pPr>
            <a:lvl6pPr>
              <a:defRPr sz="2025" b="0">
                <a:solidFill>
                  <a:srgbClr val="192D3B"/>
                </a:solidFill>
              </a:defRPr>
            </a:lvl6pPr>
            <a:lvl7pPr>
              <a:defRPr sz="2025" b="0">
                <a:solidFill>
                  <a:srgbClr val="192D3B"/>
                </a:solidFill>
              </a:defRPr>
            </a:lvl7pPr>
            <a:lvl8pPr>
              <a:defRPr sz="2025" b="0">
                <a:solidFill>
                  <a:srgbClr val="192D3B"/>
                </a:solidFill>
              </a:defRPr>
            </a:lvl8pPr>
            <a:lvl9pPr>
              <a:defRPr sz="2025" b="0">
                <a:solidFill>
                  <a:srgbClr val="192D3B"/>
                </a:solidFill>
              </a:defRPr>
            </a:lvl9pPr>
          </a:lstStyle>
          <a:p xmlns:a="http://schemas.openxmlformats.org/drawingml/2006/main">
            <a:pPr>
              <a:defRPr sz="2025" b="0">
                <a:solidFill>
                  <a:srgbClr val="192D3B"/>
                </a:solidFill>
              </a:defRPr>
            </a:pPr>
            <a:r>
              <a:rPr sz="2025" b="0">
                <a:solidFill>
                  <a:srgbClr val="192D3B"/>
                </a:solidFill>
              </a:rPr>
              <a:t>The best model underestimated that group by 44 days on average</a:t>
            </a:r>
          </a:p>
        </p:txBody>
      </p:sp>
    </p:spTree>
    <p:extLst>
      <p:ext uri="{BB962C8B-B14F-4D97-AF65-F5344CB8AC3E}">
        <p14:creationId xmlns:p14="http://schemas.microsoft.com/office/powerpoint/2010/main" val="64450918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CAF4960-2898-45A0-BF24-5125372231BC}"/>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92D3B"/>
                </a:solidFill>
              </a:defRPr>
            </a:defPPr>
            <a:lvl1pPr>
              <a:defRPr sz="3300" b="1">
                <a:solidFill>
                  <a:srgbClr val="192D3B"/>
                </a:solidFill>
              </a:defRPr>
            </a:lvl1pPr>
            <a:lvl2pPr>
              <a:defRPr sz="3300" b="1">
                <a:solidFill>
                  <a:srgbClr val="192D3B"/>
                </a:solidFill>
              </a:defRPr>
            </a:lvl2pPr>
            <a:lvl3pPr>
              <a:defRPr sz="3300" b="1">
                <a:solidFill>
                  <a:srgbClr val="192D3B"/>
                </a:solidFill>
              </a:defRPr>
            </a:lvl3pPr>
            <a:lvl4pPr>
              <a:defRPr sz="3300" b="1">
                <a:solidFill>
                  <a:srgbClr val="192D3B"/>
                </a:solidFill>
              </a:defRPr>
            </a:lvl4pPr>
            <a:lvl5pPr>
              <a:defRPr sz="3300" b="1">
                <a:solidFill>
                  <a:srgbClr val="192D3B"/>
                </a:solidFill>
              </a:defRPr>
            </a:lvl5pPr>
            <a:lvl6pPr>
              <a:defRPr sz="3300" b="1">
                <a:solidFill>
                  <a:srgbClr val="192D3B"/>
                </a:solidFill>
              </a:defRPr>
            </a:lvl6pPr>
            <a:lvl7pPr>
              <a:defRPr sz="3300" b="1">
                <a:solidFill>
                  <a:srgbClr val="192D3B"/>
                </a:solidFill>
              </a:defRPr>
            </a:lvl7pPr>
            <a:lvl8pPr>
              <a:defRPr sz="3300" b="1">
                <a:solidFill>
                  <a:srgbClr val="192D3B"/>
                </a:solidFill>
              </a:defRPr>
            </a:lvl8pPr>
            <a:lvl9pPr>
              <a:defRPr sz="3300" b="1">
                <a:solidFill>
                  <a:srgbClr val="192D3B"/>
                </a:solidFill>
              </a:defRPr>
            </a:lvl9pPr>
          </a:lstStyle>
          <a:p xmlns:a="http://schemas.openxmlformats.org/drawingml/2006/main">
            <a:pPr>
              <a:defRPr sz="3300" b="1">
                <a:solidFill>
                  <a:srgbClr val="192D3B"/>
                </a:solidFill>
              </a:defRPr>
            </a:pPr>
            <a:r>
              <a:rPr sz="3300" b="1">
                <a:solidFill>
                  <a:srgbClr val="192D3B"/>
                </a:solidFill>
              </a:rPr>
              <a:t>What this pilot can establish</a:t>
            </a:r>
          </a:p>
        </p:txBody>
      </p:sp>
      <p:sp>
        <p:nvSpPr>
          <p:cNvPr id="3" name="">
            <a:extLst xmlns:a="http://schemas.openxmlformats.org/drawingml/2006/main">
              <a:ext uri="{FF2B5EF4-FFF2-40B4-BE49-F238E27FC236}">
                <a16:creationId xmlns:a16="http://schemas.microsoft.com/office/drawing/2014/main" id="{F0398E30-47F8-4991-AFD9-856C62E4A48F}"/>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36573"/>
                </a:solidFill>
              </a:defRPr>
            </a:defPPr>
            <a:lvl1pPr>
              <a:defRPr sz="1350" b="0">
                <a:solidFill>
                  <a:srgbClr val="536573"/>
                </a:solidFill>
              </a:defRPr>
            </a:lvl1pPr>
            <a:lvl2pPr>
              <a:defRPr sz="1350" b="0">
                <a:solidFill>
                  <a:srgbClr val="536573"/>
                </a:solidFill>
              </a:defRPr>
            </a:lvl2pPr>
            <a:lvl3pPr>
              <a:defRPr sz="1350" b="0">
                <a:solidFill>
                  <a:srgbClr val="536573"/>
                </a:solidFill>
              </a:defRPr>
            </a:lvl3pPr>
            <a:lvl4pPr>
              <a:defRPr sz="1350" b="0">
                <a:solidFill>
                  <a:srgbClr val="536573"/>
                </a:solidFill>
              </a:defRPr>
            </a:lvl4pPr>
            <a:lvl5pPr>
              <a:defRPr sz="1350" b="0">
                <a:solidFill>
                  <a:srgbClr val="536573"/>
                </a:solidFill>
              </a:defRPr>
            </a:lvl5pPr>
            <a:lvl6pPr>
              <a:defRPr sz="1350" b="0">
                <a:solidFill>
                  <a:srgbClr val="536573"/>
                </a:solidFill>
              </a:defRPr>
            </a:lvl6pPr>
            <a:lvl7pPr>
              <a:defRPr sz="1350" b="0">
                <a:solidFill>
                  <a:srgbClr val="536573"/>
                </a:solidFill>
              </a:defRPr>
            </a:lvl7pPr>
            <a:lvl8pPr>
              <a:defRPr sz="1350" b="0">
                <a:solidFill>
                  <a:srgbClr val="536573"/>
                </a:solidFill>
              </a:defRPr>
            </a:lvl8pPr>
            <a:lvl9pPr>
              <a:defRPr sz="1350" b="0">
                <a:solidFill>
                  <a:srgbClr val="536573"/>
                </a:solidFill>
              </a:defRPr>
            </a:lvl9pPr>
          </a:lstStyle>
          <a:p xmlns:a="http://schemas.openxmlformats.org/drawingml/2006/main">
            <a:pPr>
              <a:defRPr sz="1350" b="0">
                <a:solidFill>
                  <a:srgbClr val="536573"/>
                </a:solidFill>
              </a:defRPr>
            </a:pPr>
            <a:r>
              <a:rPr sz="1350" b="0">
                <a:solidFill>
                  <a:srgbClr val="536573"/>
                </a:solidFill>
              </a:rPr>
              <a:t>08</a:t>
            </a:r>
          </a:p>
        </p:txBody>
      </p:sp>
      <p:sp>
        <p:nvSpPr>
          <p:cNvPr id="4" name="">
            <a:extLst xmlns:a="http://schemas.openxmlformats.org/drawingml/2006/main">
              <a:ext uri="{FF2B5EF4-FFF2-40B4-BE49-F238E27FC236}">
                <a16:creationId xmlns:a16="http://schemas.microsoft.com/office/drawing/2014/main" id="{695F2111-45FE-4327-BBE7-DA82BAE10078}"/>
              </a:ext>
            </a:extLst>
          </p:cNvPr>
          <p:cNvSpPr>
            <a:spLocks xmlns:a="http://schemas.openxmlformats.org/drawingml/2006/main" noGrp="1"/>
          </p:cNvSpPr>
          <p:nvPr/>
        </p:nvSpPr>
        <p:spPr>
          <a:xfrm xmlns:a="http://schemas.openxmlformats.org/drawingml/2006/main">
            <a:off x="666750" y="171450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D3B"/>
                </a:solidFill>
              </a:defRPr>
            </a:defPPr>
            <a:lvl1pPr>
              <a:defRPr sz="2175" b="0">
                <a:solidFill>
                  <a:srgbClr val="192D3B"/>
                </a:solidFill>
              </a:defRPr>
            </a:lvl1pPr>
            <a:lvl2pPr>
              <a:defRPr sz="2175" b="0">
                <a:solidFill>
                  <a:srgbClr val="192D3B"/>
                </a:solidFill>
              </a:defRPr>
            </a:lvl2pPr>
            <a:lvl3pPr>
              <a:defRPr sz="2175" b="0">
                <a:solidFill>
                  <a:srgbClr val="192D3B"/>
                </a:solidFill>
              </a:defRPr>
            </a:lvl3pPr>
            <a:lvl4pPr>
              <a:defRPr sz="2175" b="0">
                <a:solidFill>
                  <a:srgbClr val="192D3B"/>
                </a:solidFill>
              </a:defRPr>
            </a:lvl4pPr>
            <a:lvl5pPr>
              <a:defRPr sz="2175" b="0">
                <a:solidFill>
                  <a:srgbClr val="192D3B"/>
                </a:solidFill>
              </a:defRPr>
            </a:lvl5pPr>
            <a:lvl6pPr>
              <a:defRPr sz="2175" b="0">
                <a:solidFill>
                  <a:srgbClr val="192D3B"/>
                </a:solidFill>
              </a:defRPr>
            </a:lvl6pPr>
            <a:lvl7pPr>
              <a:defRPr sz="2175" b="0">
                <a:solidFill>
                  <a:srgbClr val="192D3B"/>
                </a:solidFill>
              </a:defRPr>
            </a:lvl7pPr>
            <a:lvl8pPr>
              <a:defRPr sz="2175" b="0">
                <a:solidFill>
                  <a:srgbClr val="192D3B"/>
                </a:solidFill>
              </a:defRPr>
            </a:lvl8pPr>
            <a:lvl9pPr>
              <a:defRPr sz="2175" b="0">
                <a:solidFill>
                  <a:srgbClr val="192D3B"/>
                </a:solidFill>
              </a:defRPr>
            </a:lvl9pPr>
          </a:lstStyle>
          <a:p xmlns:a="http://schemas.openxmlformats.org/drawingml/2006/main">
            <a:pPr>
              <a:defRPr sz="2175" b="0">
                <a:solidFill>
                  <a:srgbClr val="192D3B"/>
                </a:solidFill>
              </a:defRPr>
            </a:pPr>
            <a:r>
              <a:rPr sz="2175" b="0">
                <a:solidFill>
                  <a:srgbClr val="192D3B"/>
                </a:solidFill>
              </a:rPr>
              <a:t>Families summarize information the full model already receives</a:t>
            </a:r>
          </a:p>
        </p:txBody>
      </p:sp>
      <p:sp>
        <p:nvSpPr>
          <p:cNvPr id="5" name="">
            <a:extLst xmlns:a="http://schemas.openxmlformats.org/drawingml/2006/main">
              <a:ext uri="{FF2B5EF4-FFF2-40B4-BE49-F238E27FC236}">
                <a16:creationId xmlns:a16="http://schemas.microsoft.com/office/drawing/2014/main" id="{EF147259-BBCF-435C-BDF1-1F2D30746E38}"/>
              </a:ext>
            </a:extLst>
          </p:cNvPr>
          <p:cNvSpPr>
            <a:spLocks xmlns:a="http://schemas.openxmlformats.org/drawingml/2006/main" noGrp="1"/>
          </p:cNvSpPr>
          <p:nvPr/>
        </p:nvSpPr>
        <p:spPr>
          <a:xfrm xmlns:a="http://schemas.openxmlformats.org/drawingml/2006/main">
            <a:off x="666750" y="27146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D3B"/>
                </a:solidFill>
              </a:defRPr>
            </a:defPPr>
            <a:lvl1pPr>
              <a:defRPr sz="2175" b="0">
                <a:solidFill>
                  <a:srgbClr val="192D3B"/>
                </a:solidFill>
              </a:defRPr>
            </a:lvl1pPr>
            <a:lvl2pPr>
              <a:defRPr sz="2175" b="0">
                <a:solidFill>
                  <a:srgbClr val="192D3B"/>
                </a:solidFill>
              </a:defRPr>
            </a:lvl2pPr>
            <a:lvl3pPr>
              <a:defRPr sz="2175" b="0">
                <a:solidFill>
                  <a:srgbClr val="192D3B"/>
                </a:solidFill>
              </a:defRPr>
            </a:lvl3pPr>
            <a:lvl4pPr>
              <a:defRPr sz="2175" b="0">
                <a:solidFill>
                  <a:srgbClr val="192D3B"/>
                </a:solidFill>
              </a:defRPr>
            </a:lvl4pPr>
            <a:lvl5pPr>
              <a:defRPr sz="2175" b="0">
                <a:solidFill>
                  <a:srgbClr val="192D3B"/>
                </a:solidFill>
              </a:defRPr>
            </a:lvl5pPr>
            <a:lvl6pPr>
              <a:defRPr sz="2175" b="0">
                <a:solidFill>
                  <a:srgbClr val="192D3B"/>
                </a:solidFill>
              </a:defRPr>
            </a:lvl6pPr>
            <a:lvl7pPr>
              <a:defRPr sz="2175" b="0">
                <a:solidFill>
                  <a:srgbClr val="192D3B"/>
                </a:solidFill>
              </a:defRPr>
            </a:lvl7pPr>
            <a:lvl8pPr>
              <a:defRPr sz="2175" b="0">
                <a:solidFill>
                  <a:srgbClr val="192D3B"/>
                </a:solidFill>
              </a:defRPr>
            </a:lvl8pPr>
            <a:lvl9pPr>
              <a:defRPr sz="2175" b="0">
                <a:solidFill>
                  <a:srgbClr val="192D3B"/>
                </a:solidFill>
              </a:defRPr>
            </a:lvl9pPr>
          </a:lstStyle>
          <a:p xmlns:a="http://schemas.openxmlformats.org/drawingml/2006/main">
            <a:pPr>
              <a:defRPr sz="2175" b="0">
                <a:solidFill>
                  <a:srgbClr val="192D3B"/>
                </a:solidFill>
              </a:defRPr>
            </a:pPr>
            <a:r>
              <a:rPr sz="2175" b="0">
                <a:solidFill>
                  <a:srgbClr val="192D3B"/>
                </a:solidFill>
              </a:rPr>
              <a:t>Equipment similarity may not imply similar elapsed duration</a:t>
            </a:r>
          </a:p>
        </p:txBody>
      </p:sp>
      <p:sp>
        <p:nvSpPr>
          <p:cNvPr id="6" name="">
            <a:extLst xmlns:a="http://schemas.openxmlformats.org/drawingml/2006/main">
              <a:ext uri="{FF2B5EF4-FFF2-40B4-BE49-F238E27FC236}">
                <a16:creationId xmlns:a16="http://schemas.microsoft.com/office/drawing/2014/main" id="{ED1C6227-A253-4DBE-A266-EB196CD63ECF}"/>
              </a:ext>
            </a:extLst>
          </p:cNvPr>
          <p:cNvSpPr>
            <a:spLocks xmlns:a="http://schemas.openxmlformats.org/drawingml/2006/main" noGrp="1"/>
          </p:cNvSpPr>
          <p:nvPr/>
        </p:nvSpPr>
        <p:spPr>
          <a:xfrm xmlns:a="http://schemas.openxmlformats.org/drawingml/2006/main">
            <a:off x="666750" y="37147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92D3B"/>
                </a:solidFill>
              </a:defRPr>
            </a:defPPr>
            <a:lvl1pPr>
              <a:defRPr sz="2175" b="0">
                <a:solidFill>
                  <a:srgbClr val="192D3B"/>
                </a:solidFill>
              </a:defRPr>
            </a:lvl1pPr>
            <a:lvl2pPr>
              <a:defRPr sz="2175" b="0">
                <a:solidFill>
                  <a:srgbClr val="192D3B"/>
                </a:solidFill>
              </a:defRPr>
            </a:lvl2pPr>
            <a:lvl3pPr>
              <a:defRPr sz="2175" b="0">
                <a:solidFill>
                  <a:srgbClr val="192D3B"/>
                </a:solidFill>
              </a:defRPr>
            </a:lvl3pPr>
            <a:lvl4pPr>
              <a:defRPr sz="2175" b="0">
                <a:solidFill>
                  <a:srgbClr val="192D3B"/>
                </a:solidFill>
              </a:defRPr>
            </a:lvl4pPr>
            <a:lvl5pPr>
              <a:defRPr sz="2175" b="0">
                <a:solidFill>
                  <a:srgbClr val="192D3B"/>
                </a:solidFill>
              </a:defRPr>
            </a:lvl5pPr>
            <a:lvl6pPr>
              <a:defRPr sz="2175" b="0">
                <a:solidFill>
                  <a:srgbClr val="192D3B"/>
                </a:solidFill>
              </a:defRPr>
            </a:lvl6pPr>
            <a:lvl7pPr>
              <a:defRPr sz="2175" b="0">
                <a:solidFill>
                  <a:srgbClr val="192D3B"/>
                </a:solidFill>
              </a:defRPr>
            </a:lvl7pPr>
            <a:lvl8pPr>
              <a:defRPr sz="2175" b="0">
                <a:solidFill>
                  <a:srgbClr val="192D3B"/>
                </a:solidFill>
              </a:defRPr>
            </a:lvl8pPr>
            <a:lvl9pPr>
              <a:defRPr sz="2175" b="0">
                <a:solidFill>
                  <a:srgbClr val="192D3B"/>
                </a:solidFill>
              </a:defRPr>
            </a:lvl9pPr>
          </a:lstStyle>
          <a:p xmlns:a="http://schemas.openxmlformats.org/drawingml/2006/main">
            <a:pPr>
              <a:defRPr sz="2175" b="0">
                <a:solidFill>
                  <a:srgbClr val="192D3B"/>
                </a:solidFill>
              </a:defRPr>
            </a:pPr>
            <a:r>
              <a:rPr sz="2175" b="0">
                <a:solidFill>
                  <a:srgbClr val="192D3B"/>
                </a:solidFill>
              </a:rPr>
              <a:t>Location practices and missing fields can shape the results</a:t>
            </a:r>
          </a:p>
        </p:txBody>
      </p:sp>
      <p:sp>
        <p:nvSpPr>
          <p:cNvPr id="7" name="">
            <a:extLst xmlns:a="http://schemas.openxmlformats.org/drawingml/2006/main">
              <a:ext uri="{FF2B5EF4-FFF2-40B4-BE49-F238E27FC236}">
                <a16:creationId xmlns:a16="http://schemas.microsoft.com/office/drawing/2014/main" id="{417F95C7-D24E-4CC8-A417-3F3ACB8885A2}"/>
              </a:ext>
            </a:extLst>
          </p:cNvPr>
          <p:cNvSpPr>
            <a:spLocks xmlns:a="http://schemas.openxmlformats.org/drawingml/2006/main" noGrp="1"/>
          </p:cNvSpPr>
          <p:nvPr/>
        </p:nvSpPr>
        <p:spPr>
          <a:xfrm xmlns:a="http://schemas.openxmlformats.org/drawingml/2006/main">
            <a:off x="666750" y="471487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007F86"/>
                </a:solidFill>
              </a:defRPr>
            </a:defPPr>
            <a:lvl1pPr>
              <a:defRPr sz="2175" b="0">
                <a:solidFill>
                  <a:srgbClr val="007F86"/>
                </a:solidFill>
              </a:defRPr>
            </a:lvl1pPr>
            <a:lvl2pPr>
              <a:defRPr sz="2175" b="0">
                <a:solidFill>
                  <a:srgbClr val="007F86"/>
                </a:solidFill>
              </a:defRPr>
            </a:lvl2pPr>
            <a:lvl3pPr>
              <a:defRPr sz="2175" b="0">
                <a:solidFill>
                  <a:srgbClr val="007F86"/>
                </a:solidFill>
              </a:defRPr>
            </a:lvl3pPr>
            <a:lvl4pPr>
              <a:defRPr sz="2175" b="0">
                <a:solidFill>
                  <a:srgbClr val="007F86"/>
                </a:solidFill>
              </a:defRPr>
            </a:lvl4pPr>
            <a:lvl5pPr>
              <a:defRPr sz="2175" b="0">
                <a:solidFill>
                  <a:srgbClr val="007F86"/>
                </a:solidFill>
              </a:defRPr>
            </a:lvl5pPr>
            <a:lvl6pPr>
              <a:defRPr sz="2175" b="0">
                <a:solidFill>
                  <a:srgbClr val="007F86"/>
                </a:solidFill>
              </a:defRPr>
            </a:lvl6pPr>
            <a:lvl7pPr>
              <a:defRPr sz="2175" b="0">
                <a:solidFill>
                  <a:srgbClr val="007F86"/>
                </a:solidFill>
              </a:defRPr>
            </a:lvl7pPr>
            <a:lvl8pPr>
              <a:defRPr sz="2175" b="0">
                <a:solidFill>
                  <a:srgbClr val="007F86"/>
                </a:solidFill>
              </a:defRPr>
            </a:lvl8pPr>
            <a:lvl9pPr>
              <a:defRPr sz="2175" b="0">
                <a:solidFill>
                  <a:srgbClr val="007F86"/>
                </a:solidFill>
              </a:defRPr>
            </a:lvl9pPr>
          </a:lstStyle>
          <a:p xmlns:a="http://schemas.openxmlformats.org/drawingml/2006/main">
            <a:pPr>
              <a:defRPr sz="2175" b="0">
                <a:solidFill>
                  <a:srgbClr val="007F86"/>
                </a:solidFill>
              </a:defRPr>
            </a:pPr>
            <a:r>
              <a:rPr sz="2175" b="0">
                <a:solidFill>
                  <a:srgbClr val="007F86"/>
                </a:solidFill>
              </a:rPr>
              <a:t>Semantic embeddings and cleaner text remain untested</a:t>
            </a:r>
          </a:p>
        </p:txBody>
      </p:sp>
    </p:spTree>
    <p:extLst>
      <p:ext uri="{BB962C8B-B14F-4D97-AF65-F5344CB8AC3E}">
        <p14:creationId xmlns:p14="http://schemas.microsoft.com/office/powerpoint/2010/main" val="1875280076"/>
      </p:ext>
    </p:extLst>
  </p:cSld>
</p:sld>
</file>

<file path=ppt/slides/slide9.xml><?xml version="1.0" encoding="utf-8"?>
<p:sld xmlns:p="http://schemas.openxmlformats.org/presentationml/2006/main">
  <p:cSld>
    <p:bg>
      <p:bgPr>
        <a:solidFill xmlns:a="http://schemas.openxmlformats.org/drawingml/2006/main">
          <a:srgbClr val="142D42"/>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BB674-3AEE-45FD-B645-4EB33C397C6F}"/>
              </a:ext>
            </a:extLst>
          </p:cNvPr>
          <p:cNvSpPr>
            <a:spLocks xmlns:a="http://schemas.openxmlformats.org/drawingml/2006/main" noGrp="1"/>
          </p:cNvSpPr>
          <p:nvPr/>
        </p:nvSpPr>
        <p:spPr>
          <a:xfrm xmlns:a="http://schemas.openxmlformats.org/drawingml/2006/main">
            <a:off x="628650" y="457200"/>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The next experiment</a:t>
            </a:r>
          </a:p>
        </p:txBody>
      </p:sp>
      <p:sp>
        <p:nvSpPr>
          <p:cNvPr id="3" name="">
            <a:extLst xmlns:a="http://schemas.openxmlformats.org/drawingml/2006/main">
              <a:ext uri="{FF2B5EF4-FFF2-40B4-BE49-F238E27FC236}">
                <a16:creationId xmlns:a16="http://schemas.microsoft.com/office/drawing/2014/main" id="{2708DC09-72D2-4EE2-8E74-27AEB82C7BAD}"/>
              </a:ext>
            </a:extLst>
          </p:cNvPr>
          <p:cNvSpPr>
            <a:spLocks xmlns:a="http://schemas.openxmlformats.org/drawingml/2006/main" noGrp="1"/>
          </p:cNvSpPr>
          <p:nvPr/>
        </p:nvSpPr>
        <p:spPr>
          <a:xfrm xmlns:a="http://schemas.openxmlformats.org/drawingml/2006/main">
            <a:off x="11144250" y="63341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7CCD7"/>
                </a:solidFill>
              </a:defRPr>
            </a:defPPr>
            <a:lvl1pPr>
              <a:defRPr sz="1350" b="0">
                <a:solidFill>
                  <a:srgbClr val="B7CCD7"/>
                </a:solidFill>
              </a:defRPr>
            </a:lvl1pPr>
            <a:lvl2pPr>
              <a:defRPr sz="1350" b="0">
                <a:solidFill>
                  <a:srgbClr val="B7CCD7"/>
                </a:solidFill>
              </a:defRPr>
            </a:lvl2pPr>
            <a:lvl3pPr>
              <a:defRPr sz="1350" b="0">
                <a:solidFill>
                  <a:srgbClr val="B7CCD7"/>
                </a:solidFill>
              </a:defRPr>
            </a:lvl3pPr>
            <a:lvl4pPr>
              <a:defRPr sz="1350" b="0">
                <a:solidFill>
                  <a:srgbClr val="B7CCD7"/>
                </a:solidFill>
              </a:defRPr>
            </a:lvl4pPr>
            <a:lvl5pPr>
              <a:defRPr sz="1350" b="0">
                <a:solidFill>
                  <a:srgbClr val="B7CCD7"/>
                </a:solidFill>
              </a:defRPr>
            </a:lvl5pPr>
            <a:lvl6pPr>
              <a:defRPr sz="1350" b="0">
                <a:solidFill>
                  <a:srgbClr val="B7CCD7"/>
                </a:solidFill>
              </a:defRPr>
            </a:lvl6pPr>
            <a:lvl7pPr>
              <a:defRPr sz="1350" b="0">
                <a:solidFill>
                  <a:srgbClr val="B7CCD7"/>
                </a:solidFill>
              </a:defRPr>
            </a:lvl7pPr>
            <a:lvl8pPr>
              <a:defRPr sz="1350" b="0">
                <a:solidFill>
                  <a:srgbClr val="B7CCD7"/>
                </a:solidFill>
              </a:defRPr>
            </a:lvl8pPr>
            <a:lvl9pPr>
              <a:defRPr sz="1350" b="0">
                <a:solidFill>
                  <a:srgbClr val="B7CCD7"/>
                </a:solidFill>
              </a:defRPr>
            </a:lvl9pPr>
          </a:lstStyle>
          <a:p xmlns:a="http://schemas.openxmlformats.org/drawingml/2006/main">
            <a:pPr>
              <a:defRPr sz="1350" b="0">
                <a:solidFill>
                  <a:srgbClr val="B7CCD7"/>
                </a:solidFill>
              </a:defRPr>
            </a:pPr>
            <a:r>
              <a:rPr sz="1350" b="0">
                <a:solidFill>
                  <a:srgbClr val="B7CCD7"/>
                </a:solidFill>
              </a:rPr>
              <a:t>09</a:t>
            </a:r>
          </a:p>
        </p:txBody>
      </p:sp>
      <p:sp>
        <p:nvSpPr>
          <p:cNvPr id="4" name="">
            <a:extLst xmlns:a="http://schemas.openxmlformats.org/drawingml/2006/main">
              <a:ext uri="{FF2B5EF4-FFF2-40B4-BE49-F238E27FC236}">
                <a16:creationId xmlns:a16="http://schemas.microsoft.com/office/drawing/2014/main" id="{980645CF-6622-48FB-9BB7-A829511F6D37}"/>
              </a:ext>
            </a:extLst>
          </p:cNvPr>
          <p:cNvSpPr>
            <a:spLocks xmlns:a="http://schemas.openxmlformats.org/drawingml/2006/main" noGrp="1"/>
          </p:cNvSpPr>
          <p:nvPr/>
        </p:nvSpPr>
        <p:spPr>
          <a:xfrm xmlns:a="http://schemas.openxmlformats.org/drawingml/2006/main">
            <a:off x="666750" y="18097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defRPr>
            </a:defPPr>
            <a:lvl1pPr>
              <a:defRPr sz="2175" b="0">
                <a:solidFill>
                  <a:srgbClr val="FFFFFF"/>
                </a:solidFill>
              </a:defRPr>
            </a:lvl1pPr>
            <a:lvl2pPr>
              <a:defRPr sz="2175" b="0">
                <a:solidFill>
                  <a:srgbClr val="FFFFFF"/>
                </a:solidFill>
              </a:defRPr>
            </a:lvl2pPr>
            <a:lvl3pPr>
              <a:defRPr sz="2175" b="0">
                <a:solidFill>
                  <a:srgbClr val="FFFFFF"/>
                </a:solidFill>
              </a:defRPr>
            </a:lvl3pPr>
            <a:lvl4pPr>
              <a:defRPr sz="2175" b="0">
                <a:solidFill>
                  <a:srgbClr val="FFFFFF"/>
                </a:solidFill>
              </a:defRPr>
            </a:lvl4pPr>
            <a:lvl5pPr>
              <a:defRPr sz="2175" b="0">
                <a:solidFill>
                  <a:srgbClr val="FFFFFF"/>
                </a:solidFill>
              </a:defRPr>
            </a:lvl5pPr>
            <a:lvl6pPr>
              <a:defRPr sz="2175" b="0">
                <a:solidFill>
                  <a:srgbClr val="FFFFFF"/>
                </a:solidFill>
              </a:defRPr>
            </a:lvl6pPr>
            <a:lvl7pPr>
              <a:defRPr sz="2175" b="0">
                <a:solidFill>
                  <a:srgbClr val="FFFFFF"/>
                </a:solidFill>
              </a:defRPr>
            </a:lvl7pPr>
            <a:lvl8pPr>
              <a:defRPr sz="2175" b="0">
                <a:solidFill>
                  <a:srgbClr val="FFFFFF"/>
                </a:solidFill>
              </a:defRPr>
            </a:lvl8pPr>
            <a:lvl9pPr>
              <a:defRPr sz="2175" b="0">
                <a:solidFill>
                  <a:srgbClr val="FFFFFF"/>
                </a:solidFill>
              </a:defRPr>
            </a:lvl9pPr>
          </a:lstStyle>
          <a:p xmlns:a="http://schemas.openxmlformats.org/drawingml/2006/main">
            <a:pPr>
              <a:defRPr sz="2175" b="0">
                <a:solidFill>
                  <a:srgbClr val="FFFFFF"/>
                </a:solidFill>
              </a:defRPr>
            </a:pPr>
            <a:r>
              <a:rPr sz="2175" b="0">
                <a:solidFill>
                  <a:srgbClr val="FFFFFF"/>
                </a:solidFill>
              </a:rPr>
              <a:t>Compare clean text with a pretrained semantic encoder</a:t>
            </a:r>
          </a:p>
        </p:txBody>
      </p:sp>
      <p:sp>
        <p:nvSpPr>
          <p:cNvPr id="5" name="">
            <a:extLst xmlns:a="http://schemas.openxmlformats.org/drawingml/2006/main">
              <a:ext uri="{FF2B5EF4-FFF2-40B4-BE49-F238E27FC236}">
                <a16:creationId xmlns:a16="http://schemas.microsoft.com/office/drawing/2014/main" id="{4B2F9028-E382-4813-9DDE-71C0CBABFC31}"/>
              </a:ext>
            </a:extLst>
          </p:cNvPr>
          <p:cNvSpPr>
            <a:spLocks xmlns:a="http://schemas.openxmlformats.org/drawingml/2006/main" noGrp="1"/>
          </p:cNvSpPr>
          <p:nvPr/>
        </p:nvSpPr>
        <p:spPr>
          <a:xfrm xmlns:a="http://schemas.openxmlformats.org/drawingml/2006/main">
            <a:off x="666750" y="285750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defRPr>
            </a:defPPr>
            <a:lvl1pPr>
              <a:defRPr sz="2175" b="0">
                <a:solidFill>
                  <a:srgbClr val="FFFFFF"/>
                </a:solidFill>
              </a:defRPr>
            </a:lvl1pPr>
            <a:lvl2pPr>
              <a:defRPr sz="2175" b="0">
                <a:solidFill>
                  <a:srgbClr val="FFFFFF"/>
                </a:solidFill>
              </a:defRPr>
            </a:lvl2pPr>
            <a:lvl3pPr>
              <a:defRPr sz="2175" b="0">
                <a:solidFill>
                  <a:srgbClr val="FFFFFF"/>
                </a:solidFill>
              </a:defRPr>
            </a:lvl3pPr>
            <a:lvl4pPr>
              <a:defRPr sz="2175" b="0">
                <a:solidFill>
                  <a:srgbClr val="FFFFFF"/>
                </a:solidFill>
              </a:defRPr>
            </a:lvl4pPr>
            <a:lvl5pPr>
              <a:defRPr sz="2175" b="0">
                <a:solidFill>
                  <a:srgbClr val="FFFFFF"/>
                </a:solidFill>
              </a:defRPr>
            </a:lvl5pPr>
            <a:lvl6pPr>
              <a:defRPr sz="2175" b="0">
                <a:solidFill>
                  <a:srgbClr val="FFFFFF"/>
                </a:solidFill>
              </a:defRPr>
            </a:lvl6pPr>
            <a:lvl7pPr>
              <a:defRPr sz="2175" b="0">
                <a:solidFill>
                  <a:srgbClr val="FFFFFF"/>
                </a:solidFill>
              </a:defRPr>
            </a:lvl7pPr>
            <a:lvl8pPr>
              <a:defRPr sz="2175" b="0">
                <a:solidFill>
                  <a:srgbClr val="FFFFFF"/>
                </a:solidFill>
              </a:defRPr>
            </a:lvl8pPr>
            <a:lvl9pPr>
              <a:defRPr sz="2175" b="0">
                <a:solidFill>
                  <a:srgbClr val="FFFFFF"/>
                </a:solidFill>
              </a:defRPr>
            </a:lvl9pPr>
          </a:lstStyle>
          <a:p xmlns:a="http://schemas.openxmlformats.org/drawingml/2006/main">
            <a:pPr>
              <a:defRPr sz="2175" b="0">
                <a:solidFill>
                  <a:srgbClr val="FFFFFF"/>
                </a:solidFill>
              </a:defRPr>
            </a:pPr>
            <a:r>
              <a:rPr sz="2175" b="0">
                <a:solidFill>
                  <a:srgbClr val="FFFFFF"/>
                </a:solidFill>
              </a:rPr>
              <a:t>Audit LaborHours as a target closer to work effort</a:t>
            </a:r>
          </a:p>
        </p:txBody>
      </p:sp>
      <p:sp>
        <p:nvSpPr>
          <p:cNvPr id="6" name="">
            <a:extLst xmlns:a="http://schemas.openxmlformats.org/drawingml/2006/main">
              <a:ext uri="{FF2B5EF4-FFF2-40B4-BE49-F238E27FC236}">
                <a16:creationId xmlns:a16="http://schemas.microsoft.com/office/drawing/2014/main" id="{A1E828D3-B33B-4DD4-A0B9-6B8DEFA05DA6}"/>
              </a:ext>
            </a:extLst>
          </p:cNvPr>
          <p:cNvSpPr>
            <a:spLocks xmlns:a="http://schemas.openxmlformats.org/drawingml/2006/main" noGrp="1"/>
          </p:cNvSpPr>
          <p:nvPr/>
        </p:nvSpPr>
        <p:spPr>
          <a:xfrm xmlns:a="http://schemas.openxmlformats.org/drawingml/2006/main">
            <a:off x="666750" y="3905250"/>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defRPr>
            </a:defPPr>
            <a:lvl1pPr>
              <a:defRPr sz="2175" b="0">
                <a:solidFill>
                  <a:srgbClr val="FFFFFF"/>
                </a:solidFill>
              </a:defRPr>
            </a:lvl1pPr>
            <a:lvl2pPr>
              <a:defRPr sz="2175" b="0">
                <a:solidFill>
                  <a:srgbClr val="FFFFFF"/>
                </a:solidFill>
              </a:defRPr>
            </a:lvl2pPr>
            <a:lvl3pPr>
              <a:defRPr sz="2175" b="0">
                <a:solidFill>
                  <a:srgbClr val="FFFFFF"/>
                </a:solidFill>
              </a:defRPr>
            </a:lvl3pPr>
            <a:lvl4pPr>
              <a:defRPr sz="2175" b="0">
                <a:solidFill>
                  <a:srgbClr val="FFFFFF"/>
                </a:solidFill>
              </a:defRPr>
            </a:lvl4pPr>
            <a:lvl5pPr>
              <a:defRPr sz="2175" b="0">
                <a:solidFill>
                  <a:srgbClr val="FFFFFF"/>
                </a:solidFill>
              </a:defRPr>
            </a:lvl5pPr>
            <a:lvl6pPr>
              <a:defRPr sz="2175" b="0">
                <a:solidFill>
                  <a:srgbClr val="FFFFFF"/>
                </a:solidFill>
              </a:defRPr>
            </a:lvl6pPr>
            <a:lvl7pPr>
              <a:defRPr sz="2175" b="0">
                <a:solidFill>
                  <a:srgbClr val="FFFFFF"/>
                </a:solidFill>
              </a:defRPr>
            </a:lvl7pPr>
            <a:lvl8pPr>
              <a:defRPr sz="2175" b="0">
                <a:solidFill>
                  <a:srgbClr val="FFFFFF"/>
                </a:solidFill>
              </a:defRPr>
            </a:lvl8pPr>
            <a:lvl9pPr>
              <a:defRPr sz="2175" b="0">
                <a:solidFill>
                  <a:srgbClr val="FFFFFF"/>
                </a:solidFill>
              </a:defRPr>
            </a:lvl9pPr>
          </a:lstStyle>
          <a:p xmlns:a="http://schemas.openxmlformats.org/drawingml/2006/main">
            <a:pPr>
              <a:defRPr sz="2175" b="0">
                <a:solidFill>
                  <a:srgbClr val="FFFFFF"/>
                </a:solidFill>
              </a:defRPr>
            </a:pPr>
            <a:r>
              <a:rPr sz="2175" b="0">
                <a:solidFill>
                  <a:srgbClr val="FFFFFF"/>
                </a:solidFill>
              </a:rPr>
              <a:t>Validate rare and unseen work, then lock the final test</a:t>
            </a:r>
          </a:p>
        </p:txBody>
      </p:sp>
      <p:sp>
        <p:nvSpPr>
          <p:cNvPr id="7" name="">
            <a:extLst xmlns:a="http://schemas.openxmlformats.org/drawingml/2006/main">
              <a:ext uri="{FF2B5EF4-FFF2-40B4-BE49-F238E27FC236}">
                <a16:creationId xmlns:a16="http://schemas.microsoft.com/office/drawing/2014/main" id="{9EB9E922-9086-433D-8D7D-994767BFAC53}"/>
              </a:ext>
            </a:extLst>
          </p:cNvPr>
          <p:cNvSpPr>
            <a:spLocks xmlns:a="http://schemas.openxmlformats.org/drawingml/2006/main" noGrp="1"/>
          </p:cNvSpPr>
          <p:nvPr/>
        </p:nvSpPr>
        <p:spPr>
          <a:xfrm xmlns:a="http://schemas.openxmlformats.org/drawingml/2006/main">
            <a:off x="666750" y="54292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8DD6D6"/>
                </a:solidFill>
              </a:defRPr>
            </a:defPPr>
            <a:lvl1pPr>
              <a:defRPr sz="2250" b="1">
                <a:solidFill>
                  <a:srgbClr val="8DD6D6"/>
                </a:solidFill>
              </a:defRPr>
            </a:lvl1pPr>
            <a:lvl2pPr>
              <a:defRPr sz="2250" b="1">
                <a:solidFill>
                  <a:srgbClr val="8DD6D6"/>
                </a:solidFill>
              </a:defRPr>
            </a:lvl2pPr>
            <a:lvl3pPr>
              <a:defRPr sz="2250" b="1">
                <a:solidFill>
                  <a:srgbClr val="8DD6D6"/>
                </a:solidFill>
              </a:defRPr>
            </a:lvl3pPr>
            <a:lvl4pPr>
              <a:defRPr sz="2250" b="1">
                <a:solidFill>
                  <a:srgbClr val="8DD6D6"/>
                </a:solidFill>
              </a:defRPr>
            </a:lvl4pPr>
            <a:lvl5pPr>
              <a:defRPr sz="2250" b="1">
                <a:solidFill>
                  <a:srgbClr val="8DD6D6"/>
                </a:solidFill>
              </a:defRPr>
            </a:lvl5pPr>
            <a:lvl6pPr>
              <a:defRPr sz="2250" b="1">
                <a:solidFill>
                  <a:srgbClr val="8DD6D6"/>
                </a:solidFill>
              </a:defRPr>
            </a:lvl6pPr>
            <a:lvl7pPr>
              <a:defRPr sz="2250" b="1">
                <a:solidFill>
                  <a:srgbClr val="8DD6D6"/>
                </a:solidFill>
              </a:defRPr>
            </a:lvl7pPr>
            <a:lvl8pPr>
              <a:defRPr sz="2250" b="1">
                <a:solidFill>
                  <a:srgbClr val="8DD6D6"/>
                </a:solidFill>
              </a:defRPr>
            </a:lvl8pPr>
            <a:lvl9pPr>
              <a:defRPr sz="2250" b="1">
                <a:solidFill>
                  <a:srgbClr val="8DD6D6"/>
                </a:solidFill>
              </a:defRPr>
            </a:lvl9pPr>
          </a:lstStyle>
          <a:p xmlns:a="http://schemas.openxmlformats.org/drawingml/2006/main">
            <a:pPr>
              <a:defRPr sz="2250" b="1">
                <a:solidFill>
                  <a:srgbClr val="8DD6D6"/>
                </a:solidFill>
              </a:defRPr>
            </a:pPr>
            <a:r>
              <a:rPr sz="2250" b="1">
                <a:solidFill>
                  <a:srgbClr val="8DD6D6"/>
                </a:solidFill>
              </a:rPr>
              <a:t>The pilot found predictive signal. The added value of families remains open.</a:t>
            </a:r>
          </a:p>
        </p:txBody>
      </p:sp>
    </p:spTree>
    <p:extLst>
      <p:ext uri="{BB962C8B-B14F-4D97-AF65-F5344CB8AC3E}">
        <p14:creationId xmlns:p14="http://schemas.microsoft.com/office/powerpoint/2010/main" val="19712792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2026-10-26T11:11:59.9780000Z</dcterms:created>
  <dcterms:modified xsi:type="dcterms:W3CDTF">2026-10-26T11:11:59.9780000Z</dcterms:modified>
</coreProperties>
</file>